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(60 seconds)</a:t>
            </a:r>
          </a:p>
          <a:p>
            <a:r>
              <a:t>Good morning. I'm Venu. For the next 40 minutes, we're going to do something the security industry doesn't normally let you do on stage: we're going to let the attacker win — on purpose — four times, across four different tiers of a real application stack. And each time, we're going to watch the defender win anyway.</a:t>
            </a:r>
          </a:p>
          <a:p/>
          <a:p>
            <a:r>
              <a:t>This is the Demo-3 edition of 'The Art of the Graceful Fail.' Last year, I showed you the pattern on one stateless tier. This year, we survive state, we survive data, and we survive replication.</a:t>
            </a:r>
          </a:p>
          <a:p/>
          <a:p>
            <a:r>
              <a:t>The thesis does not change. The surface area does.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DREAM (90 seconds)</a:t>
            </a:r>
          </a:p>
          <a:p>
            <a:r>
              <a:t>The security industry has been selling the same dream since the first firewall: that you can be impenetrable, unbreachable, safe — if you just buy enough tools, patch enough vulns, pass enough audits.</a:t>
            </a:r>
          </a:p>
          <a:p/>
          <a:p>
            <a:r>
              <a:t>It's a beautiful dream. It's also a beautiful lie. Because it's built on a false premise — that security is a problem you can *solve*, rather than a condition you must continuously manage.</a:t>
            </a:r>
          </a:p>
          <a:p/>
          <a:p>
            <a:r>
              <a:t>Last week I sat through sessions where senior leaders sang from the slides: 194 days to detect a breach. 64 days to contain it. 9 months of silent compromise inside well-resourced organisations. $4.45 million average breach cost. British Airways paid $53,000 per minute. Maersk bled $300 million in two weeks.</a:t>
            </a:r>
          </a:p>
          <a:p/>
          <a:p>
            <a:r>
              <a:t>All of those organisations had security teams. Had certifications. Had audits. Had perfect scores on the metrics we kept.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VANITY METRICS (90 seconds)</a:t>
            </a:r>
          </a:p>
          <a:p>
            <a:r>
              <a:t>Here's what we put on boards. Millions of attacks blocked. Thousands of patches applied. Uptime at 99.9%. Zero critical CVEs outstanding.</a:t>
            </a:r>
          </a:p>
          <a:p/>
          <a:p>
            <a:r>
              <a:t>These metrics measure the wall. How many bricks we stacked. How tall we built it. How many ladders we knocked down.</a:t>
            </a:r>
          </a:p>
          <a:p/>
          <a:p>
            <a:r>
              <a:t>But a wall, once breached, burns everything inside it. The defenders who spent years stacking stones have nothing left to defend with. The wall was supposed to be the strategy. There was no plan for the day it fell.</a:t>
            </a:r>
          </a:p>
          <a:p/>
          <a:p>
            <a:r>
              <a:t>Suppose you blocked 10 million attacks last year. One got through. Your systems were down for three weeks. Did you win, or did you lose?</a:t>
            </a:r>
          </a:p>
          <a:p/>
          <a:p>
            <a:r>
              <a:t>We optimise the numbers that are impressive on a slide. We ignore the one number that matters: the clock.</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B-V-R EQUATION (90 seconds)</a:t>
            </a:r>
          </a:p>
          <a:p>
            <a:r>
              <a:t>The framework is deliberately simple. Three variables, drawn from four established standards: FAIR, MITRE ATT&amp;CK, DORA, NIST 800-61r3.</a:t>
            </a:r>
          </a:p>
          <a:p/>
          <a:p>
            <a:r>
              <a:t>B — Business Context. The bleed rate. How much revenue leaves the building per minute the service is dark.</a:t>
            </a:r>
          </a:p>
          <a:p/>
          <a:p>
            <a:r>
              <a:t>V — Vulnerability Velocity. How fast an attacker moves from foothold to total compromise.</a:t>
            </a:r>
          </a:p>
          <a:p/>
          <a:p>
            <a:r>
              <a:t>R — Recovery Runway. Your MTTR. The actual number of seconds between 'failure confirmed' and 'service returning HTTP 200.'</a:t>
            </a:r>
          </a:p>
          <a:p/>
          <a:p>
            <a:r>
              <a:t>The model reduces to one question: is R less than V? If yes, you win. The attack succeeded — but the success was temporary. By the time the attacker pivots, their foothold has evaporated.</a:t>
            </a:r>
          </a:p>
          <a:p/>
          <a:p>
            <a:r>
              <a:t>This is the inequality that changes everything.</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DERIVATION (90 seconds)</a:t>
            </a:r>
          </a:p>
          <a:p>
            <a:r>
              <a:t>B is not a number I made up. It is the output of a structured probabilistic risk model grounded in an international standard — FAIR, published by the Open Group.</a:t>
            </a:r>
          </a:p>
          <a:p/>
          <a:p>
            <a:r>
              <a:t>Take annual revenue. Divide by 525,600 minutes. For a $3B revenue Tier-1 service, that's $5,707/min from revenue loss alone. Add productivity impact, incident response cost, regulatory exposure. The Monte Carlo converges on about $5,707. We round conservatively to $5,000.</a:t>
            </a:r>
          </a:p>
          <a:p/>
          <a:p>
            <a:r>
              <a:t>The validation is that real-world breaches match. British Airways came in at $53,000/min — higher because of the ICO regulatory component FAIR explicitly models. Maersk: $15,000/min — higher because of supply-chain secondary loss. MGM: $7,000/min — hospitality revenue density.</a:t>
            </a:r>
          </a:p>
          <a:p/>
          <a:p>
            <a:r>
              <a:t>The FAIR model predicts. The breach data confirms. This is the one security metric that behaves like a real physical quantity.</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 VALUE (75 seconds)</a:t>
            </a:r>
          </a:p>
          <a:p>
            <a:r>
              <a:t>V is how fast the attacker moves. CrowdStrike's 2024 Global Threat Report: fastest recorded breakout — 2 minutes 7 seconds. Average eCrime breakout — 62 minutes, down from 84 the year before. The trend goes one way.</a:t>
            </a:r>
          </a:p>
          <a:p/>
          <a:p>
            <a:r>
              <a:t>For Demo-3, I measured V conservatively. docker exec takes 2 seconds. rm -rf takes 1 second. HTTP 404 confirmed in another 2 seconds. That's 5 seconds for a single tier. Full-stack compromise — web, app, data — we budget at 30 seconds. That's the conservative number. A fully automated attacker using AI-assisted exploit generation can get there in under 10 seconds.</a:t>
            </a:r>
          </a:p>
          <a:p/>
          <a:p>
            <a:r>
              <a:t>Thirty seconds until bleeding begins at $5,000/min. If your SOC takes 30 minutes to respond, you've already lost before your analyst sees the alert.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VALUES (90 seconds)</a:t>
            </a:r>
          </a:p>
          <a:p>
            <a:r>
              <a:t>Here is where Demo-3 leaves Demo-2 behind. Demo-2 measured R on one tier. Demo-3 measures it on three, independently.</a:t>
            </a:r>
          </a:p>
          <a:p/>
          <a:p>
            <a:r>
              <a:t>R₁ is the web tier. Wipeout attack, respawn from golden image. 0.63 seconds on my MacBook Pro M5, reliably.</a:t>
            </a:r>
          </a:p>
          <a:p/>
          <a:p>
            <a:r>
              <a:t>R₂ is the app tier. Memory pressure, docker kill, respawn with the same DB credentials. 0.73 seconds. Sessions are lost — but that's by design. Transactions survive.</a:t>
            </a:r>
          </a:p>
          <a:p/>
          <a:p>
            <a:r>
              <a:t>R₃ is the database tier. Mass UPDATE simulating ransomware. Guardian detects write velocity above 500 rows/sec, pauses replay on the replica at a clean LSN, and resumes after 10 quiet ticks. 12.56 seconds, averaged over two consecutive runs.</a:t>
            </a:r>
          </a:p>
          <a:p/>
          <a:p>
            <a:r>
              <a:t>Avg R per attack across the stack: 4.6 seconds. V is 30 seconds. R &lt; V with a 6.5× margin — even when the slowest tier is included.</a:t>
            </a:r>
          </a:p>
          <a:p/>
          <a:p>
            <a:r>
              <a:t>Every single number you just heard has a mttr_ms field in /tmp/demo3_guardian.jsonl. Grep it.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DEMO-2 vs DEMO-3 (60 seconds)</a:t>
            </a:r>
          </a:p>
          <a:p>
            <a:r>
              <a:t>Last year I showed you one nginx container respawn in 2 seconds. It was honest, but easy. Stateless nginx is the easy case. Attackers don't do you the courtesy of only attacking easy cases.</a:t>
            </a:r>
          </a:p>
          <a:p/>
          <a:p>
            <a:r>
              <a:t>Demo-3 takes the same pattern and extends it across a realistic five-container stack. Stateless web. Stateful Flask with in-memory sessions. PostgreSQL primary with WAL streaming to a replica. ModSecurity WAF in front. Everything isolated on its own Docker network.</a:t>
            </a:r>
          </a:p>
          <a:p/>
          <a:p>
            <a:r>
              <a:t>Same architectural bet. Larger surface area. Harder R.</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(90 seconds)</a:t>
            </a:r>
          </a:p>
          <a:p>
            <a:r>
              <a:t>Let me walk you through what's actually running. Five containers on an isolated demo3-net bridge. Attackers hit port 8090 — that's ModSecurity with the OWASP Core Rule Set. Legitimate requests are proxied through to the web tier on 9091. The app tier on 3001 is Flask with an in-memory session store and a live connection to PostgreSQL. The primary on 5432 streams WAL to the replica on 5433.</a:t>
            </a:r>
          </a:p>
          <a:p/>
          <a:p>
            <a:r>
              <a:t>Guardian runs on the host. Every second it polls all three tiers. Filesystem integrity on web. Health endpoint on app. Replication lag and write velocity on db. Every detection writes a line of JSON to /tmp/demo3_guardian.jsonl.</a:t>
            </a:r>
          </a:p>
          <a:p/>
          <a:p>
            <a:r>
              <a:t>The AI agent reads that JSONL and serves a dashboard on 7880. Nothing about the dashboard is simulated. Every number comes from a mttr_ms field in the log.</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1 (150 seconds)</a:t>
            </a:r>
          </a:p>
          <a:p>
            <a:r>
              <a:t>Switch to the dashboard. Everyone can see localhost:7880 on screen.</a:t>
            </a:r>
          </a:p>
          <a:p/>
          <a:p>
            <a:r>
              <a:t>I'm going to run attack3_web.sh. What it does: docker exec into demo3-web, rm -rf the HTML root. HTTP will go to 404. Guardian sees the drift within 1-2 seconds. Respawn from demo3-web:golden. HTTP 200 returns.</a:t>
            </a:r>
          </a:p>
          <a:p/>
          <a:p>
            <a:r>
              <a:t>Watch the WEB ring on the dashboard. Watch the Event Log — you'll see DRIFT_DETECTED, then RESPAWN_START, then RESPAWN_SUCCESS with mttr_s.</a:t>
            </a:r>
          </a:p>
          <a:p/>
          <a:p>
            <a:r>
              <a:t>[RUN: ./setup_and_run3.sh attack web]</a:t>
            </a:r>
          </a:p>
          <a:p/>
          <a:p>
            <a:r>
              <a:t>[WAIT ~2 seconds]</a:t>
            </a:r>
          </a:p>
          <a:p/>
          <a:p>
            <a:r>
              <a:t>There it is. R₁ = 0.63s. The container we just nuked is gone. A fresh copy is running in its place. The attacker's shell is in a container that no longer exists.</a:t>
            </a:r>
          </a:p>
          <a:p/>
          <a:p>
            <a:r>
              <a:t>This is the pattern. It worked on Demo-2. Let's see if it works on harder problems.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2 (150 seconds)</a:t>
            </a:r>
          </a:p>
          <a:p>
            <a:r>
              <a:t>Now we make it harder. The app tier has state — in-memory sessions, in-flight requests. If we destroy it, we lose something.</a:t>
            </a:r>
          </a:p>
          <a:p/>
          <a:p>
            <a:r>
              <a:t>The attack creates 3 sessions, injects a 50 MB memory balloon, then docker kill. Guardian sees the health check fail, respawns from the golden image.</a:t>
            </a:r>
          </a:p>
          <a:p/>
          <a:p>
            <a:r>
              <a:t>[RUN: ./setup_and_run3.sh attack app]</a:t>
            </a:r>
          </a:p>
          <a:p/>
          <a:p>
            <a:r>
              <a:t>What we're looking for: two numbers on the dashboard. The session count on the APP card goes to zero. The transaction count on the APP card — unchanged.</a:t>
            </a:r>
          </a:p>
          <a:p/>
          <a:p>
            <a:r>
              <a:t>That's the teaching point. Stateless state is respawnable. Stateful state lives in the database. The container-level state is gone. The business-level state is preserved. That's the trade we made, and that's the trade we announce upfront.</a:t>
            </a:r>
          </a:p>
          <a:p/>
          <a:p>
            <a:r>
              <a:t>R₂ = 0.73s. Win by 40× margin.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3 (180 seconds)</a:t>
            </a:r>
          </a:p>
          <a:p>
            <a:r>
              <a:t>This is the hardest one. The DB tier can't use the web pattern. You can't just kill the database and respawn — you'd lose every committed transaction.</a:t>
            </a:r>
          </a:p>
          <a:p/>
          <a:p>
            <a:r>
              <a:t>Instead: 5 waves of 200-row mass UPDATE at 700-900 rows per second. This simulates T1486 — data encrypted for impact. Not real encryption — we just flip the sign of the amount column. Same write-pattern signature.</a:t>
            </a:r>
          </a:p>
          <a:p/>
          <a:p>
            <a:r>
              <a:t>Guardian reads pg_stat_user_tables once a second, computes the delta. On delta &gt; 500 rows, it fires pg_wal_replay_pause on the replica. That freezes replication at a clean LSN — the attacker's corruption stops propagating.</a:t>
            </a:r>
          </a:p>
          <a:p/>
          <a:p>
            <a:r>
              <a:t>Ten seconds of quiet ticks later, guardian calls pg_wal_replay_resume and records the MTTR.</a:t>
            </a:r>
          </a:p>
          <a:p/>
          <a:p>
            <a:r>
              <a:t>[RUN: ./setup_and_run3.sh attack db]</a:t>
            </a:r>
          </a:p>
          <a:p/>
          <a:p>
            <a:r>
              <a:t>Watch the DB ring pulse red. Watch the Event Log: MASS_WRITE_DETECTED → REPLICA_FENCED → (10 seconds) → REPLICA_RESUMED mttr_s=12.50.</a:t>
            </a:r>
          </a:p>
          <a:p/>
          <a:p>
            <a:r>
              <a:t>R₃ = 12.56s, averaged over two consecutive runs. Honest gap: about 500 rows of the initial bulk INSERT reach the replica before the fence engages. This is acknowledged in the §9 limitations of the technical doc. It's the frontier work.</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4 (120 seconds)</a:t>
            </a:r>
          </a:p>
          <a:p>
            <a:r>
              <a:t>The fourth attack is different. The other three let the attack land and recovered. This one tries to stop it at the edge.</a:t>
            </a:r>
          </a:p>
          <a:p/>
          <a:p>
            <a:r>
              <a:t>15 real curl requests — reconnaissance (sqlmap UA, Nikto UA), SQLi (OR 1=1, UNION SELECT, DROP TABLE), XSS (script, img onerror, svg onload), path traversal (etc/passwd, .env, null-byte), and access control bypass (X-Forwarded-For, method override).</a:t>
            </a:r>
          </a:p>
          <a:p/>
          <a:p>
            <a:r>
              <a:t>Each request hits port 8090. That's ModSecurity with the OWASP CRS. Every block is a real HTTP 403 with a real audit log entry.</a:t>
            </a:r>
          </a:p>
          <a:p/>
          <a:p>
            <a:r>
              <a:t>[RUN: ./setup_and_run3.sh attack waf]</a:t>
            </a:r>
          </a:p>
          <a:p/>
          <a:p>
            <a:r>
              <a:t>Watch the WAF panel. Attacker terminal on the left. Defender panel on the right. Block rate climbs to 86% — 13/15 blocked.</a:t>
            </a:r>
          </a:p>
          <a:p/>
          <a:p>
            <a:r>
              <a:t>The honest number is 13/15, not 15/15. One request returned 404 — the route didn't exist. Zero successful exploits. I won't round that up to 100%. The whole point of this talk is resisting vanity metrics, including my own.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GAPS (90 seconds)</a:t>
            </a:r>
          </a:p>
          <a:p>
            <a:r>
              <a:t>Every security demo has the question hanging over it: 'what doesn't work?' Most demos don't answer. I'm going to answer.</a:t>
            </a:r>
          </a:p>
          <a:p/>
          <a:p>
            <a:r>
              <a:t>Five known gaps in Demo-3, all in §9 of the technical document, all unchanged in this presentation.</a:t>
            </a:r>
          </a:p>
          <a:p/>
          <a:p>
            <a:r>
              <a:t>One: about 500 rows still reach the replica during the bulk INSERT phase before the write-velocity threshold triggers. The 1-second poll is the bottleneck. Real defence needs sub-100ms CDC monitoring. The demo shows detection and containment, not bleed-zero.</a:t>
            </a:r>
          </a:p>
          <a:p/>
          <a:p>
            <a:r>
              <a:t>Two: DB recovery is fence-and-resume, not full promote. The promote path is wired but manual. Production needs Patroni or Stolon.</a:t>
            </a:r>
          </a:p>
          <a:p/>
          <a:p>
            <a:r>
              <a:t>Three: WAF block rate is 86%, not 100%. One request got through because the route didn't exist. I'm not going to round that up.</a:t>
            </a:r>
          </a:p>
          <a:p/>
          <a:p>
            <a:r>
              <a:t>Four: single-host deployment. Sub-second MTTR is partly loopback networking artefact. Production means real network across availability zones.</a:t>
            </a:r>
          </a:p>
          <a:p/>
          <a:p>
            <a:r>
              <a:t>Five: supply chain. If the golden image itself is poisoned, every respawn ships poisoned. Needs cosign, SBOM, signed registries. That's the Level 4 CTF challenge in the kit.</a:t>
            </a:r>
          </a:p>
          <a:p/>
          <a:p>
            <a:r>
              <a:t>These gaps are not weaknesses. They are the uncomfortable truths that separate a real PoC from a marketing demo. If I erased them from the slides, I'd also be erasing the whole point of this talk.</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(60 seconds)</a:t>
            </a:r>
          </a:p>
          <a:p>
            <a:r>
              <a:t>The entire Demo-3 recovery story rests on one architectural decision: the application is baked into the Docker image at build time, not mounted at runtime.</a:t>
            </a:r>
          </a:p>
          <a:p/>
          <a:p>
            <a:r>
              <a:t>That sounds small. It is not small. It is the decision that makes sub-second respawn possible. The file an attacker wants to destroy is in an immutable layer. When the container is respawned, that layer is pulled fresh from the registry — not from the attacker's residue.</a:t>
            </a:r>
          </a:p>
          <a:p/>
          <a:p>
            <a:r>
              <a:t>Every other resilience pattern in this talk — the DB fence, the WAF, the JSONL log — is supporting infrastructure. The load-bearing decision is immutability.</a:t>
            </a:r>
          </a:p>
          <a:p/>
          <a:p>
            <a:r>
              <a:t>It's not a new idea. AWS AMIs. Kubernetes pods. Terraform-managed infrastructure. Every mature cloud primitive is already immutable. The move is to apply the same discipline to security, not just to deployments.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SHIFT (60 seconds)</a:t>
            </a:r>
          </a:p>
          <a:p>
            <a:r>
              <a:t>Here's the one sentence I want you to leave with.</a:t>
            </a:r>
          </a:p>
          <a:p/>
          <a:p>
            <a:r>
              <a:t>The shift in cybersecurity strategy is from trying to prevent the attacker from winning — to making the attacker's wins temporary.</a:t>
            </a:r>
          </a:p>
          <a:p/>
          <a:p>
            <a:r>
              <a:t>Fail gracefully. Respawn faster than they can pivot. That is the only defence that scales.</a:t>
            </a:r>
          </a:p>
          <a:p/>
          <a:p>
            <a:r>
              <a:t>You cannot outspend them on prevention. You cannot out-audit them. You cannot out-patch them. You can out-respawn them. That is the whole insight.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CISOs (90 seconds)</a:t>
            </a:r>
          </a:p>
          <a:p>
            <a:r>
              <a:t>If you lead a security team, here's the concrete action: change the dashboard.</a:t>
            </a:r>
          </a:p>
          <a:p/>
          <a:p>
            <a:r>
              <a:t>Remove blocked-attack counts and uptime SLAs. Add bleed rate, vulnerability velocity, and MTTR — per Tier-1 service, per tier. Make R &lt; V the headline KPI.</a:t>
            </a:r>
          </a:p>
          <a:p/>
          <a:p>
            <a:r>
              <a:t>Brief the board not on how many attacks you blocked. Brief them on how fast you recover when one doesn't get blocked. Because one won't, eventually. That's the one you're budgeting for.</a:t>
            </a:r>
          </a:p>
          <a:p/>
          <a:p>
            <a:r>
              <a:t>The questions in the kit — seven questions for every Tier-1 service — are the instrument. Take them home. Ask your team. The gaps will surface.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(45 seconds)</a:t>
            </a:r>
          </a:p>
          <a:p>
            <a:r>
              <a:t>One line. Cyber resilience is not a taller wall. Cyber resilience is a city that can rebuild itself while it is still on fire.</a:t>
            </a:r>
          </a:p>
          <a:p/>
          <a:p>
            <a:r>
              <a:t>Thank you. Kit and source at the link. Questions.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 (45 seconds)</a:t>
            </a:r>
          </a:p>
          <a:p>
            <a:r>
              <a:t>Everything you saw today is in the kit. All source. All scripts. All scorecards.</a:t>
            </a:r>
          </a:p>
          <a:p/>
          <a:p>
            <a:r>
              <a:t>Seven reference docs. A CTF with four levels and two bonus challenges. A chaos GameDay with six attack cards. A homelab setup guide. The expanded-concepts essays.</a:t>
            </a:r>
          </a:p>
          <a:p/>
          <a:p>
            <a:r>
              <a:t>The code is real. The attacks are real. The numbers are measured. Take it home, run it, break guardian, patch guardian, bring me the patch next year.</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1510"/>
          </a:solidFill>
          <a:ln>
            <a:solidFill>
              <a:srgbClr val="0A15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37160" cy="594360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10515600" cy="548640"/>
          </a:xfrm>
          <a:prstGeom prst="rect">
            <a:avLst/>
          </a:prstGeom>
          <a:noFill/>
        </p:spPr>
        <p:txBody>
          <a:bodyPr wrap="square" lIns="0" rIns="0" tIns="0" bIns="0" anchor="t">
            <a:spAutoFit/>
          </a:bodyPr>
          <a:lstStyle/>
          <a:p>
            <a:pPr algn="l"/>
            <a:r>
              <a:rPr sz="1600" b="1" i="0">
                <a:solidFill>
                  <a:srgbClr val="3BD67A"/>
                </a:solidFill>
                <a:latin typeface="Helvetica"/>
              </a:rPr>
              <a:t>DEFCON COIMBATORE 2026</a:t>
            </a:r>
          </a:p>
        </p:txBody>
      </p:sp>
      <p:sp>
        <p:nvSpPr>
          <p:cNvPr id="5" name="TextBox 4"/>
          <p:cNvSpPr txBox="1"/>
          <p:nvPr/>
        </p:nvSpPr>
        <p:spPr>
          <a:xfrm>
            <a:off x="914400" y="1737360"/>
            <a:ext cx="10515600" cy="1188720"/>
          </a:xfrm>
          <a:prstGeom prst="rect">
            <a:avLst/>
          </a:prstGeom>
          <a:noFill/>
        </p:spPr>
        <p:txBody>
          <a:bodyPr wrap="square" lIns="0" rIns="0" tIns="0" bIns="0" anchor="t">
            <a:spAutoFit/>
          </a:bodyPr>
          <a:lstStyle/>
          <a:p>
            <a:pPr algn="l"/>
            <a:r>
              <a:rPr sz="5400" b="1" i="0">
                <a:solidFill>
                  <a:srgbClr val="E8F0EA"/>
                </a:solidFill>
                <a:latin typeface="Helvetica"/>
              </a:rPr>
              <a:t>The Art of the Graceful Fail</a:t>
            </a:r>
          </a:p>
        </p:txBody>
      </p:sp>
      <p:sp>
        <p:nvSpPr>
          <p:cNvPr id="6" name="TextBox 5"/>
          <p:cNvSpPr txBox="1"/>
          <p:nvPr/>
        </p:nvSpPr>
        <p:spPr>
          <a:xfrm>
            <a:off x="914400" y="2743200"/>
            <a:ext cx="10515600" cy="640080"/>
          </a:xfrm>
          <a:prstGeom prst="rect">
            <a:avLst/>
          </a:prstGeom>
          <a:noFill/>
        </p:spPr>
        <p:txBody>
          <a:bodyPr wrap="square" lIns="0" rIns="0" tIns="0" bIns="0" anchor="t">
            <a:spAutoFit/>
          </a:bodyPr>
          <a:lstStyle/>
          <a:p>
            <a:pPr algn="l"/>
            <a:r>
              <a:rPr sz="2800" b="0" i="0">
                <a:solidFill>
                  <a:srgbClr val="3BD67A"/>
                </a:solidFill>
                <a:latin typeface="Helvetica"/>
              </a:rPr>
              <a:t>Three-Tier Edition — Demo-3</a:t>
            </a:r>
          </a:p>
        </p:txBody>
      </p:sp>
      <p:sp>
        <p:nvSpPr>
          <p:cNvPr id="7" name="TextBox 6"/>
          <p:cNvSpPr txBox="1"/>
          <p:nvPr/>
        </p:nvSpPr>
        <p:spPr>
          <a:xfrm>
            <a:off x="914400" y="3474720"/>
            <a:ext cx="10515600" cy="548640"/>
          </a:xfrm>
          <a:prstGeom prst="rect">
            <a:avLst/>
          </a:prstGeom>
          <a:noFill/>
        </p:spPr>
        <p:txBody>
          <a:bodyPr wrap="square" lIns="0" rIns="0" tIns="0" bIns="0" anchor="t">
            <a:spAutoFit/>
          </a:bodyPr>
          <a:lstStyle/>
          <a:p>
            <a:pPr algn="l"/>
            <a:r>
              <a:rPr sz="1800" b="0" i="1">
                <a:solidFill>
                  <a:srgbClr val="98A49C"/>
                </a:solidFill>
                <a:latin typeface="Helvetica"/>
              </a:rPr>
              <a:t>The Uncomfortable Truth Nobody Wants to Say Out Loud</a:t>
            </a:r>
          </a:p>
        </p:txBody>
      </p:sp>
      <p:sp>
        <p:nvSpPr>
          <p:cNvPr id="8" name="Rectangle 7"/>
          <p:cNvSpPr/>
          <p:nvPr/>
        </p:nvSpPr>
        <p:spPr>
          <a:xfrm>
            <a:off x="914400" y="4297680"/>
            <a:ext cx="5486400" cy="27432"/>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434840"/>
            <a:ext cx="10058400" cy="457200"/>
          </a:xfrm>
          <a:prstGeom prst="rect">
            <a:avLst/>
          </a:prstGeom>
          <a:noFill/>
        </p:spPr>
        <p:txBody>
          <a:bodyPr wrap="square" lIns="0" rIns="0" tIns="0" bIns="0" anchor="t">
            <a:spAutoFit/>
          </a:bodyPr>
          <a:lstStyle/>
          <a:p>
            <a:pPr algn="l"/>
            <a:r>
              <a:rPr sz="2200" b="1" i="0">
                <a:solidFill>
                  <a:srgbClr val="E8F0EA"/>
                </a:solidFill>
                <a:latin typeface="Helvetica"/>
              </a:rPr>
              <a:t>Venugopal Parameswara</a:t>
            </a:r>
          </a:p>
        </p:txBody>
      </p:sp>
      <p:sp>
        <p:nvSpPr>
          <p:cNvPr id="10" name="TextBox 9"/>
          <p:cNvSpPr txBox="1"/>
          <p:nvPr/>
        </p:nvSpPr>
        <p:spPr>
          <a:xfrm>
            <a:off x="914400" y="4846320"/>
            <a:ext cx="10058400" cy="457200"/>
          </a:xfrm>
          <a:prstGeom prst="rect">
            <a:avLst/>
          </a:prstGeom>
          <a:noFill/>
        </p:spPr>
        <p:txBody>
          <a:bodyPr wrap="square" lIns="0" rIns="0" tIns="0" bIns="0" anchor="t">
            <a:spAutoFit/>
          </a:bodyPr>
          <a:lstStyle/>
          <a:p>
            <a:pPr algn="l"/>
            <a:r>
              <a:rPr sz="1400" b="0" i="0">
                <a:solidFill>
                  <a:srgbClr val="98A49C"/>
                </a:solidFill>
                <a:latin typeface="Helvetica"/>
              </a:rPr>
              <a:t>CISO · Cyber Strategist · Board-Level Cyber Risk Advisor</a:t>
            </a:r>
          </a:p>
        </p:txBody>
      </p:sp>
      <p:sp>
        <p:nvSpPr>
          <p:cNvPr id="11" name="TextBox 10"/>
          <p:cNvSpPr txBox="1"/>
          <p:nvPr/>
        </p:nvSpPr>
        <p:spPr>
          <a:xfrm>
            <a:off x="914400" y="5760720"/>
            <a:ext cx="10058400" cy="457200"/>
          </a:xfrm>
          <a:prstGeom prst="rect">
            <a:avLst/>
          </a:prstGeom>
          <a:noFill/>
        </p:spPr>
        <p:txBody>
          <a:bodyPr wrap="square" lIns="0" rIns="0" tIns="0" bIns="0" anchor="t">
            <a:spAutoFit/>
          </a:bodyPr>
          <a:lstStyle/>
          <a:p>
            <a:pPr algn="l"/>
            <a:r>
              <a:rPr sz="1400" b="1" i="0">
                <a:solidFill>
                  <a:srgbClr val="3BD67A"/>
                </a:solidFill>
                <a:latin typeface="Helvetica"/>
              </a:rPr>
              <a:t>RESILIENCE · RECOVERY · RESPAWN</a:t>
            </a:r>
          </a:p>
        </p:txBody>
      </p:sp>
      <p:sp>
        <p:nvSpPr>
          <p:cNvPr id="12" name="Rectangle 11"/>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github.com/CyberRant-lab/Defcon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The Beautiful Lie</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The dream the security industry has sold since the first firewall</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Rectangle 6"/>
          <p:cNvSpPr/>
          <p:nvPr/>
        </p:nvSpPr>
        <p:spPr>
          <a:xfrm>
            <a:off x="914400" y="1645920"/>
            <a:ext cx="91440" cy="41148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645920"/>
            <a:ext cx="10058400" cy="457200"/>
          </a:xfrm>
          <a:prstGeom prst="rect">
            <a:avLst/>
          </a:prstGeom>
          <a:noFill/>
        </p:spPr>
        <p:txBody>
          <a:bodyPr wrap="square" lIns="0" rIns="0" tIns="0" bIns="0" anchor="t">
            <a:spAutoFit/>
          </a:bodyPr>
          <a:lstStyle/>
          <a:p>
            <a:pPr algn="l"/>
            <a:r>
              <a:rPr sz="1800" b="0" i="0">
                <a:solidFill>
                  <a:srgbClr val="E8F0EA"/>
                </a:solidFill>
                <a:latin typeface="Helvetica"/>
              </a:rPr>
              <a:t>194 days — average time to detect a breach</a:t>
            </a:r>
          </a:p>
        </p:txBody>
      </p:sp>
      <p:sp>
        <p:nvSpPr>
          <p:cNvPr id="9" name="Rectangle 8"/>
          <p:cNvSpPr/>
          <p:nvPr/>
        </p:nvSpPr>
        <p:spPr>
          <a:xfrm>
            <a:off x="914400" y="2176272"/>
            <a:ext cx="91440" cy="41148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176272"/>
            <a:ext cx="10058400" cy="457200"/>
          </a:xfrm>
          <a:prstGeom prst="rect">
            <a:avLst/>
          </a:prstGeom>
          <a:noFill/>
        </p:spPr>
        <p:txBody>
          <a:bodyPr wrap="square" lIns="0" rIns="0" tIns="0" bIns="0" anchor="t">
            <a:spAutoFit/>
          </a:bodyPr>
          <a:lstStyle/>
          <a:p>
            <a:pPr algn="l"/>
            <a:r>
              <a:rPr sz="1800" b="0" i="0">
                <a:solidFill>
                  <a:srgbClr val="E8F0EA"/>
                </a:solidFill>
                <a:latin typeface="Helvetica"/>
              </a:rPr>
              <a:t>64 days — average time to contain</a:t>
            </a:r>
          </a:p>
        </p:txBody>
      </p:sp>
      <p:sp>
        <p:nvSpPr>
          <p:cNvPr id="11" name="Rectangle 10"/>
          <p:cNvSpPr/>
          <p:nvPr/>
        </p:nvSpPr>
        <p:spPr>
          <a:xfrm>
            <a:off x="914400" y="2706624"/>
            <a:ext cx="91440" cy="41148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2706624"/>
            <a:ext cx="10058400" cy="457200"/>
          </a:xfrm>
          <a:prstGeom prst="rect">
            <a:avLst/>
          </a:prstGeom>
          <a:noFill/>
        </p:spPr>
        <p:txBody>
          <a:bodyPr wrap="square" lIns="0" rIns="0" tIns="0" bIns="0" anchor="t">
            <a:spAutoFit/>
          </a:bodyPr>
          <a:lstStyle/>
          <a:p>
            <a:pPr algn="l"/>
            <a:r>
              <a:rPr sz="1800" b="0" i="0">
                <a:solidFill>
                  <a:srgbClr val="E8F0EA"/>
                </a:solidFill>
                <a:latin typeface="Helvetica"/>
              </a:rPr>
              <a:t>$4.45M — average breach cost, 2024</a:t>
            </a:r>
          </a:p>
        </p:txBody>
      </p:sp>
      <p:sp>
        <p:nvSpPr>
          <p:cNvPr id="13" name="Rectangle 12"/>
          <p:cNvSpPr/>
          <p:nvPr/>
        </p:nvSpPr>
        <p:spPr>
          <a:xfrm>
            <a:off x="914400" y="3236976"/>
            <a:ext cx="91440" cy="41148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236976"/>
            <a:ext cx="10058400" cy="457200"/>
          </a:xfrm>
          <a:prstGeom prst="rect">
            <a:avLst/>
          </a:prstGeom>
          <a:noFill/>
        </p:spPr>
        <p:txBody>
          <a:bodyPr wrap="square" lIns="0" rIns="0" tIns="0" bIns="0" anchor="t">
            <a:spAutoFit/>
          </a:bodyPr>
          <a:lstStyle/>
          <a:p>
            <a:pPr algn="l"/>
            <a:r>
              <a:rPr sz="1800" b="0" i="0">
                <a:solidFill>
                  <a:srgbClr val="E8F0EA"/>
                </a:solidFill>
                <a:latin typeface="Helvetica"/>
              </a:rPr>
              <a:t>$53,000 / min — British Airways, 2018 ICO fine + remediation</a:t>
            </a:r>
          </a:p>
        </p:txBody>
      </p:sp>
      <p:sp>
        <p:nvSpPr>
          <p:cNvPr id="15" name="Rectangle 14"/>
          <p:cNvSpPr/>
          <p:nvPr/>
        </p:nvSpPr>
        <p:spPr>
          <a:xfrm>
            <a:off x="914400" y="3767328"/>
            <a:ext cx="91440" cy="41148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3767328"/>
            <a:ext cx="10058400" cy="457200"/>
          </a:xfrm>
          <a:prstGeom prst="rect">
            <a:avLst/>
          </a:prstGeom>
          <a:noFill/>
        </p:spPr>
        <p:txBody>
          <a:bodyPr wrap="square" lIns="0" rIns="0" tIns="0" bIns="0" anchor="t">
            <a:spAutoFit/>
          </a:bodyPr>
          <a:lstStyle/>
          <a:p>
            <a:pPr algn="l"/>
            <a:r>
              <a:rPr sz="1800" b="0" i="0">
                <a:solidFill>
                  <a:srgbClr val="E8F0EA"/>
                </a:solidFill>
                <a:latin typeface="Helvetica"/>
              </a:rPr>
              <a:t>$300M / 2 weeks — Maersk, NotPetya, 2017</a:t>
            </a:r>
          </a:p>
        </p:txBody>
      </p:sp>
      <p:sp>
        <p:nvSpPr>
          <p:cNvPr id="17" name="Rectangle 16"/>
          <p:cNvSpPr/>
          <p:nvPr/>
        </p:nvSpPr>
        <p:spPr>
          <a:xfrm>
            <a:off x="914400" y="4297680"/>
            <a:ext cx="91440" cy="41148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4297680"/>
            <a:ext cx="10058400" cy="457200"/>
          </a:xfrm>
          <a:prstGeom prst="rect">
            <a:avLst/>
          </a:prstGeom>
          <a:noFill/>
        </p:spPr>
        <p:txBody>
          <a:bodyPr wrap="square" lIns="0" rIns="0" tIns="0" bIns="0" anchor="t">
            <a:spAutoFit/>
          </a:bodyPr>
          <a:lstStyle/>
          <a:p>
            <a:pPr algn="l"/>
            <a:r>
              <a:rPr sz="1800" b="0" i="0">
                <a:solidFill>
                  <a:srgbClr val="E8F0EA"/>
                </a:solidFill>
                <a:latin typeface="Helvetica"/>
              </a:rPr>
              <a:t>$7,000 / min — MGM Resorts, 2023 SEC disclosure</a:t>
            </a:r>
          </a:p>
        </p:txBody>
      </p:sp>
      <p:sp>
        <p:nvSpPr>
          <p:cNvPr id="19" name="TextBox 18"/>
          <p:cNvSpPr txBox="1"/>
          <p:nvPr/>
        </p:nvSpPr>
        <p:spPr>
          <a:xfrm>
            <a:off x="914400" y="5120640"/>
            <a:ext cx="10332720" cy="731520"/>
          </a:xfrm>
          <a:prstGeom prst="rect">
            <a:avLst/>
          </a:prstGeom>
          <a:noFill/>
        </p:spPr>
        <p:txBody>
          <a:bodyPr wrap="square" lIns="0" rIns="0" tIns="0" bIns="0" anchor="t">
            <a:spAutoFit/>
          </a:bodyPr>
          <a:lstStyle/>
          <a:p>
            <a:pPr algn="l"/>
            <a:r>
              <a:rPr sz="1600" b="0" i="1">
                <a:solidFill>
                  <a:srgbClr val="98A49C"/>
                </a:solidFill>
                <a:latin typeface="Helvetica"/>
              </a:rPr>
              <a:t>Every one of them had a wall. Every one had a plan for keeping attackers out.</a:t>
            </a:r>
          </a:p>
        </p:txBody>
      </p:sp>
      <p:sp>
        <p:nvSpPr>
          <p:cNvPr id="20" name="TextBox 19"/>
          <p:cNvSpPr txBox="1"/>
          <p:nvPr/>
        </p:nvSpPr>
        <p:spPr>
          <a:xfrm>
            <a:off x="914400" y="5577840"/>
            <a:ext cx="10332720" cy="548640"/>
          </a:xfrm>
          <a:prstGeom prst="rect">
            <a:avLst/>
          </a:prstGeom>
          <a:noFill/>
        </p:spPr>
        <p:txBody>
          <a:bodyPr wrap="square" lIns="0" rIns="0" tIns="0" bIns="0" anchor="t">
            <a:spAutoFit/>
          </a:bodyPr>
          <a:lstStyle/>
          <a:p>
            <a:pPr algn="l"/>
            <a:r>
              <a:rPr sz="1800" b="1" i="0">
                <a:solidFill>
                  <a:srgbClr val="E54242"/>
                </a:solidFill>
                <a:latin typeface="Helvetica"/>
              </a:rPr>
              <a:t>None of them had a plan for the day the wall came down.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The Vanity Metric Trap</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Numbers that look good on a slide and mean nothing in an incident</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Rectangle 6"/>
          <p:cNvSpPr/>
          <p:nvPr/>
        </p:nvSpPr>
        <p:spPr>
          <a:xfrm>
            <a:off x="640080" y="1463040"/>
            <a:ext cx="5120640" cy="4846320"/>
          </a:xfrm>
          <a:prstGeom prst="rect">
            <a:avLst/>
          </a:prstGeom>
          <a:solidFill>
            <a:srgbClr val="0F1F17"/>
          </a:solidFill>
          <a:ln w="12700">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08760"/>
            <a:ext cx="5120640" cy="457200"/>
          </a:xfrm>
          <a:prstGeom prst="rect">
            <a:avLst/>
          </a:prstGeom>
          <a:noFill/>
        </p:spPr>
        <p:txBody>
          <a:bodyPr wrap="square" lIns="0" rIns="0" tIns="0" bIns="0" anchor="t">
            <a:spAutoFit/>
          </a:bodyPr>
          <a:lstStyle/>
          <a:p>
            <a:pPr algn="l"/>
            <a:r>
              <a:rPr sz="1400" b="1" i="0">
                <a:solidFill>
                  <a:srgbClr val="E54242"/>
                </a:solidFill>
                <a:latin typeface="Helvetica"/>
              </a:rPr>
              <a:t>  THE VANITY DASHBOARD</a:t>
            </a:r>
          </a:p>
        </p:txBody>
      </p:sp>
      <p:sp>
        <p:nvSpPr>
          <p:cNvPr id="9" name="Rectangle 8"/>
          <p:cNvSpPr/>
          <p:nvPr/>
        </p:nvSpPr>
        <p:spPr>
          <a:xfrm>
            <a:off x="640080" y="1920240"/>
            <a:ext cx="5120640" cy="12700"/>
          </a:xfrm>
          <a:prstGeom prst="rect">
            <a:avLst/>
          </a:prstGeom>
          <a:solidFill>
            <a:srgbClr val="E54242"/>
          </a:solidFill>
          <a:ln>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03120"/>
            <a:ext cx="4572000" cy="365760"/>
          </a:xfrm>
          <a:prstGeom prst="rect">
            <a:avLst/>
          </a:prstGeom>
          <a:noFill/>
        </p:spPr>
        <p:txBody>
          <a:bodyPr wrap="square" lIns="0" rIns="0" tIns="0" bIns="0" anchor="t">
            <a:spAutoFit/>
          </a:bodyPr>
          <a:lstStyle/>
          <a:p>
            <a:pPr algn="l"/>
            <a:r>
              <a:rPr sz="1400" b="0" i="0">
                <a:solidFill>
                  <a:srgbClr val="E8F0EA"/>
                </a:solidFill>
                <a:latin typeface="Helvetica"/>
              </a:rPr>
              <a:t>✓  10,482,311 attacks blocked</a:t>
            </a:r>
          </a:p>
        </p:txBody>
      </p:sp>
      <p:sp>
        <p:nvSpPr>
          <p:cNvPr id="11" name="TextBox 10"/>
          <p:cNvSpPr txBox="1"/>
          <p:nvPr/>
        </p:nvSpPr>
        <p:spPr>
          <a:xfrm>
            <a:off x="914400" y="2578608"/>
            <a:ext cx="4572000" cy="365760"/>
          </a:xfrm>
          <a:prstGeom prst="rect">
            <a:avLst/>
          </a:prstGeom>
          <a:noFill/>
        </p:spPr>
        <p:txBody>
          <a:bodyPr wrap="square" lIns="0" rIns="0" tIns="0" bIns="0" anchor="t">
            <a:spAutoFit/>
          </a:bodyPr>
          <a:lstStyle/>
          <a:p>
            <a:pPr algn="l"/>
            <a:r>
              <a:rPr sz="1400" b="0" i="0">
                <a:solidFill>
                  <a:srgbClr val="E8F0EA"/>
                </a:solidFill>
                <a:latin typeface="Helvetica"/>
              </a:rPr>
              <a:t>✓  99.9% uptime</a:t>
            </a:r>
          </a:p>
        </p:txBody>
      </p:sp>
      <p:sp>
        <p:nvSpPr>
          <p:cNvPr id="12" name="TextBox 11"/>
          <p:cNvSpPr txBox="1"/>
          <p:nvPr/>
        </p:nvSpPr>
        <p:spPr>
          <a:xfrm>
            <a:off x="914400" y="3054096"/>
            <a:ext cx="4572000" cy="365760"/>
          </a:xfrm>
          <a:prstGeom prst="rect">
            <a:avLst/>
          </a:prstGeom>
          <a:noFill/>
        </p:spPr>
        <p:txBody>
          <a:bodyPr wrap="square" lIns="0" rIns="0" tIns="0" bIns="0" anchor="t">
            <a:spAutoFit/>
          </a:bodyPr>
          <a:lstStyle/>
          <a:p>
            <a:pPr algn="l"/>
            <a:r>
              <a:rPr sz="1400" b="0" i="0">
                <a:solidFill>
                  <a:srgbClr val="E8F0EA"/>
                </a:solidFill>
                <a:latin typeface="Helvetica"/>
              </a:rPr>
              <a:t>✓  4,238 patches applied</a:t>
            </a:r>
          </a:p>
        </p:txBody>
      </p:sp>
      <p:sp>
        <p:nvSpPr>
          <p:cNvPr id="13" name="TextBox 12"/>
          <p:cNvSpPr txBox="1"/>
          <p:nvPr/>
        </p:nvSpPr>
        <p:spPr>
          <a:xfrm>
            <a:off x="914400" y="3529584"/>
            <a:ext cx="4572000" cy="365760"/>
          </a:xfrm>
          <a:prstGeom prst="rect">
            <a:avLst/>
          </a:prstGeom>
          <a:noFill/>
        </p:spPr>
        <p:txBody>
          <a:bodyPr wrap="square" lIns="0" rIns="0" tIns="0" bIns="0" anchor="t">
            <a:spAutoFit/>
          </a:bodyPr>
          <a:lstStyle/>
          <a:p>
            <a:pPr algn="l"/>
            <a:r>
              <a:rPr sz="1400" b="0" i="0">
                <a:solidFill>
                  <a:srgbClr val="E8F0EA"/>
                </a:solidFill>
                <a:latin typeface="Helvetica"/>
              </a:rPr>
              <a:t>✓  0 critical CVEs outstanding</a:t>
            </a:r>
          </a:p>
        </p:txBody>
      </p:sp>
      <p:sp>
        <p:nvSpPr>
          <p:cNvPr id="14" name="TextBox 13"/>
          <p:cNvSpPr txBox="1"/>
          <p:nvPr/>
        </p:nvSpPr>
        <p:spPr>
          <a:xfrm>
            <a:off x="914400" y="4005072"/>
            <a:ext cx="4572000" cy="365760"/>
          </a:xfrm>
          <a:prstGeom prst="rect">
            <a:avLst/>
          </a:prstGeom>
          <a:noFill/>
        </p:spPr>
        <p:txBody>
          <a:bodyPr wrap="square" lIns="0" rIns="0" tIns="0" bIns="0" anchor="t">
            <a:spAutoFit/>
          </a:bodyPr>
          <a:lstStyle/>
          <a:p>
            <a:pPr algn="l"/>
            <a:r>
              <a:rPr sz="1400" b="0" i="0">
                <a:solidFill>
                  <a:srgbClr val="E8F0EA"/>
                </a:solidFill>
                <a:latin typeface="Helvetica"/>
              </a:rPr>
              <a:t>✓  SOC 2 Type II — passed</a:t>
            </a:r>
          </a:p>
        </p:txBody>
      </p:sp>
      <p:sp>
        <p:nvSpPr>
          <p:cNvPr id="15" name="TextBox 14"/>
          <p:cNvSpPr txBox="1"/>
          <p:nvPr/>
        </p:nvSpPr>
        <p:spPr>
          <a:xfrm>
            <a:off x="914400" y="4480560"/>
            <a:ext cx="4572000" cy="365760"/>
          </a:xfrm>
          <a:prstGeom prst="rect">
            <a:avLst/>
          </a:prstGeom>
          <a:noFill/>
        </p:spPr>
        <p:txBody>
          <a:bodyPr wrap="square" lIns="0" rIns="0" tIns="0" bIns="0" anchor="t">
            <a:spAutoFit/>
          </a:bodyPr>
          <a:lstStyle/>
          <a:p>
            <a:pPr algn="l"/>
            <a:r>
              <a:rPr sz="1400" b="0" i="0">
                <a:solidFill>
                  <a:srgbClr val="E8F0EA"/>
                </a:solidFill>
                <a:latin typeface="Helvetica"/>
              </a:rPr>
              <a:t>✓  ISO 27001 — certified</a:t>
            </a:r>
          </a:p>
        </p:txBody>
      </p:sp>
      <p:sp>
        <p:nvSpPr>
          <p:cNvPr id="16" name="TextBox 15"/>
          <p:cNvSpPr txBox="1"/>
          <p:nvPr/>
        </p:nvSpPr>
        <p:spPr>
          <a:xfrm>
            <a:off x="914400" y="4956048"/>
            <a:ext cx="4572000" cy="365760"/>
          </a:xfrm>
          <a:prstGeom prst="rect">
            <a:avLst/>
          </a:prstGeom>
          <a:noFill/>
        </p:spPr>
        <p:txBody>
          <a:bodyPr wrap="square" lIns="0" rIns="0" tIns="0" bIns="0" anchor="t">
            <a:spAutoFit/>
          </a:bodyPr>
          <a:lstStyle/>
          <a:p>
            <a:pPr algn="l"/>
            <a:r>
              <a:rPr sz="1400" b="0" i="0">
                <a:solidFill>
                  <a:srgbClr val="E8F0EA"/>
                </a:solidFill>
                <a:latin typeface="Helvetica"/>
              </a:rPr>
              <a:t>✓  Red team — quarterly</a:t>
            </a:r>
          </a:p>
        </p:txBody>
      </p:sp>
      <p:sp>
        <p:nvSpPr>
          <p:cNvPr id="17" name="Rectangle 16"/>
          <p:cNvSpPr/>
          <p:nvPr/>
        </p:nvSpPr>
        <p:spPr>
          <a:xfrm>
            <a:off x="6400800" y="1463040"/>
            <a:ext cx="5120640" cy="4846320"/>
          </a:xfrm>
          <a:prstGeom prst="rect">
            <a:avLst/>
          </a:prstGeom>
          <a:solidFill>
            <a:srgbClr val="0F1F17"/>
          </a:solidFill>
          <a:ln w="1270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508760"/>
            <a:ext cx="5120640" cy="457200"/>
          </a:xfrm>
          <a:prstGeom prst="rect">
            <a:avLst/>
          </a:prstGeom>
          <a:noFill/>
        </p:spPr>
        <p:txBody>
          <a:bodyPr wrap="square" lIns="0" rIns="0" tIns="0" bIns="0" anchor="t">
            <a:spAutoFit/>
          </a:bodyPr>
          <a:lstStyle/>
          <a:p>
            <a:pPr algn="l"/>
            <a:r>
              <a:rPr sz="1400" b="1" i="0">
                <a:solidFill>
                  <a:srgbClr val="3BD67A"/>
                </a:solidFill>
                <a:latin typeface="Helvetica"/>
              </a:rPr>
              <a:t>  THE REAL DASHBOARD</a:t>
            </a:r>
          </a:p>
        </p:txBody>
      </p:sp>
      <p:sp>
        <p:nvSpPr>
          <p:cNvPr id="19" name="Rectangle 18"/>
          <p:cNvSpPr/>
          <p:nvPr/>
        </p:nvSpPr>
        <p:spPr>
          <a:xfrm>
            <a:off x="6400800" y="1920240"/>
            <a:ext cx="5120640" cy="1270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103120"/>
            <a:ext cx="2743200" cy="365760"/>
          </a:xfrm>
          <a:prstGeom prst="rect">
            <a:avLst/>
          </a:prstGeom>
          <a:noFill/>
        </p:spPr>
        <p:txBody>
          <a:bodyPr wrap="square" lIns="0" rIns="0" tIns="0" bIns="0" anchor="t">
            <a:spAutoFit/>
          </a:bodyPr>
          <a:lstStyle/>
          <a:p>
            <a:pPr algn="l"/>
            <a:r>
              <a:rPr sz="1300" b="0" i="0">
                <a:solidFill>
                  <a:srgbClr val="98A49C"/>
                </a:solidFill>
                <a:latin typeface="Helvetica"/>
              </a:rPr>
              <a:t>B  Bleed Rate</a:t>
            </a:r>
          </a:p>
        </p:txBody>
      </p:sp>
      <p:sp>
        <p:nvSpPr>
          <p:cNvPr id="21" name="TextBox 20"/>
          <p:cNvSpPr txBox="1"/>
          <p:nvPr/>
        </p:nvSpPr>
        <p:spPr>
          <a:xfrm>
            <a:off x="8961120" y="2103120"/>
            <a:ext cx="2468880" cy="365760"/>
          </a:xfrm>
          <a:prstGeom prst="rect">
            <a:avLst/>
          </a:prstGeom>
          <a:noFill/>
        </p:spPr>
        <p:txBody>
          <a:bodyPr wrap="square" lIns="0" rIns="0" tIns="0" bIns="0" anchor="t">
            <a:spAutoFit/>
          </a:bodyPr>
          <a:lstStyle/>
          <a:p>
            <a:pPr algn="l"/>
            <a:r>
              <a:rPr sz="1300" b="1" i="0">
                <a:solidFill>
                  <a:srgbClr val="3BD67A"/>
                </a:solidFill>
                <a:latin typeface="Helvetica"/>
              </a:rPr>
              <a:t>$5,000 / minute</a:t>
            </a:r>
          </a:p>
        </p:txBody>
      </p:sp>
      <p:sp>
        <p:nvSpPr>
          <p:cNvPr id="22" name="TextBox 21"/>
          <p:cNvSpPr txBox="1"/>
          <p:nvPr/>
        </p:nvSpPr>
        <p:spPr>
          <a:xfrm>
            <a:off x="6583680" y="2578608"/>
            <a:ext cx="2743200" cy="365760"/>
          </a:xfrm>
          <a:prstGeom prst="rect">
            <a:avLst/>
          </a:prstGeom>
          <a:noFill/>
        </p:spPr>
        <p:txBody>
          <a:bodyPr wrap="square" lIns="0" rIns="0" tIns="0" bIns="0" anchor="t">
            <a:spAutoFit/>
          </a:bodyPr>
          <a:lstStyle/>
          <a:p>
            <a:pPr algn="l"/>
            <a:r>
              <a:rPr sz="1300" b="0" i="0">
                <a:solidFill>
                  <a:srgbClr val="98A49C"/>
                </a:solidFill>
                <a:latin typeface="Helvetica"/>
              </a:rPr>
              <a:t>V  Attacker Velocity</a:t>
            </a:r>
          </a:p>
        </p:txBody>
      </p:sp>
      <p:sp>
        <p:nvSpPr>
          <p:cNvPr id="23" name="TextBox 22"/>
          <p:cNvSpPr txBox="1"/>
          <p:nvPr/>
        </p:nvSpPr>
        <p:spPr>
          <a:xfrm>
            <a:off x="8961120" y="2578608"/>
            <a:ext cx="2468880" cy="365760"/>
          </a:xfrm>
          <a:prstGeom prst="rect">
            <a:avLst/>
          </a:prstGeom>
          <a:noFill/>
        </p:spPr>
        <p:txBody>
          <a:bodyPr wrap="square" lIns="0" rIns="0" tIns="0" bIns="0" anchor="t">
            <a:spAutoFit/>
          </a:bodyPr>
          <a:lstStyle/>
          <a:p>
            <a:pPr algn="l"/>
            <a:r>
              <a:rPr sz="1300" b="1" i="0">
                <a:solidFill>
                  <a:srgbClr val="3BD67A"/>
                </a:solidFill>
                <a:latin typeface="Helvetica"/>
              </a:rPr>
              <a:t>30 seconds</a:t>
            </a:r>
          </a:p>
        </p:txBody>
      </p:sp>
      <p:sp>
        <p:nvSpPr>
          <p:cNvPr id="24" name="TextBox 23"/>
          <p:cNvSpPr txBox="1"/>
          <p:nvPr/>
        </p:nvSpPr>
        <p:spPr>
          <a:xfrm>
            <a:off x="6583680" y="3054096"/>
            <a:ext cx="2743200" cy="365760"/>
          </a:xfrm>
          <a:prstGeom prst="rect">
            <a:avLst/>
          </a:prstGeom>
          <a:noFill/>
        </p:spPr>
        <p:txBody>
          <a:bodyPr wrap="square" lIns="0" rIns="0" tIns="0" bIns="0" anchor="t">
            <a:spAutoFit/>
          </a:bodyPr>
          <a:lstStyle/>
          <a:p>
            <a:pPr algn="l"/>
            <a:r>
              <a:rPr sz="1300" b="0" i="0">
                <a:solidFill>
                  <a:srgbClr val="98A49C"/>
                </a:solidFill>
                <a:latin typeface="Helvetica"/>
              </a:rPr>
              <a:t>R₁ Web MTTR</a:t>
            </a:r>
          </a:p>
        </p:txBody>
      </p:sp>
      <p:sp>
        <p:nvSpPr>
          <p:cNvPr id="25" name="TextBox 24"/>
          <p:cNvSpPr txBox="1"/>
          <p:nvPr/>
        </p:nvSpPr>
        <p:spPr>
          <a:xfrm>
            <a:off x="8961120" y="3054096"/>
            <a:ext cx="2468880" cy="365760"/>
          </a:xfrm>
          <a:prstGeom prst="rect">
            <a:avLst/>
          </a:prstGeom>
          <a:noFill/>
        </p:spPr>
        <p:txBody>
          <a:bodyPr wrap="square" lIns="0" rIns="0" tIns="0" bIns="0" anchor="t">
            <a:spAutoFit/>
          </a:bodyPr>
          <a:lstStyle/>
          <a:p>
            <a:pPr algn="l"/>
            <a:r>
              <a:rPr sz="1300" b="1" i="0">
                <a:solidFill>
                  <a:srgbClr val="3BD67A"/>
                </a:solidFill>
                <a:latin typeface="Helvetica"/>
              </a:rPr>
              <a:t>0.63s automated</a:t>
            </a:r>
          </a:p>
        </p:txBody>
      </p:sp>
      <p:sp>
        <p:nvSpPr>
          <p:cNvPr id="26" name="TextBox 25"/>
          <p:cNvSpPr txBox="1"/>
          <p:nvPr/>
        </p:nvSpPr>
        <p:spPr>
          <a:xfrm>
            <a:off x="6583680" y="3529584"/>
            <a:ext cx="2743200" cy="365760"/>
          </a:xfrm>
          <a:prstGeom prst="rect">
            <a:avLst/>
          </a:prstGeom>
          <a:noFill/>
        </p:spPr>
        <p:txBody>
          <a:bodyPr wrap="square" lIns="0" rIns="0" tIns="0" bIns="0" anchor="t">
            <a:spAutoFit/>
          </a:bodyPr>
          <a:lstStyle/>
          <a:p>
            <a:pPr algn="l"/>
            <a:r>
              <a:rPr sz="1300" b="0" i="0">
                <a:solidFill>
                  <a:srgbClr val="98A49C"/>
                </a:solidFill>
                <a:latin typeface="Helvetica"/>
              </a:rPr>
              <a:t>R₂ App MTTR</a:t>
            </a:r>
          </a:p>
        </p:txBody>
      </p:sp>
      <p:sp>
        <p:nvSpPr>
          <p:cNvPr id="27" name="TextBox 26"/>
          <p:cNvSpPr txBox="1"/>
          <p:nvPr/>
        </p:nvSpPr>
        <p:spPr>
          <a:xfrm>
            <a:off x="8961120" y="3529584"/>
            <a:ext cx="2468880" cy="365760"/>
          </a:xfrm>
          <a:prstGeom prst="rect">
            <a:avLst/>
          </a:prstGeom>
          <a:noFill/>
        </p:spPr>
        <p:txBody>
          <a:bodyPr wrap="square" lIns="0" rIns="0" tIns="0" bIns="0" anchor="t">
            <a:spAutoFit/>
          </a:bodyPr>
          <a:lstStyle/>
          <a:p>
            <a:pPr algn="l"/>
            <a:r>
              <a:rPr sz="1300" b="1" i="0">
                <a:solidFill>
                  <a:srgbClr val="3BD67A"/>
                </a:solidFill>
                <a:latin typeface="Helvetica"/>
              </a:rPr>
              <a:t>0.73s automated</a:t>
            </a:r>
          </a:p>
        </p:txBody>
      </p:sp>
      <p:sp>
        <p:nvSpPr>
          <p:cNvPr id="28" name="TextBox 27"/>
          <p:cNvSpPr txBox="1"/>
          <p:nvPr/>
        </p:nvSpPr>
        <p:spPr>
          <a:xfrm>
            <a:off x="6583680" y="4005072"/>
            <a:ext cx="2743200" cy="365760"/>
          </a:xfrm>
          <a:prstGeom prst="rect">
            <a:avLst/>
          </a:prstGeom>
          <a:noFill/>
        </p:spPr>
        <p:txBody>
          <a:bodyPr wrap="square" lIns="0" rIns="0" tIns="0" bIns="0" anchor="t">
            <a:spAutoFit/>
          </a:bodyPr>
          <a:lstStyle/>
          <a:p>
            <a:pPr algn="l"/>
            <a:r>
              <a:rPr sz="1300" b="0" i="0">
                <a:solidFill>
                  <a:srgbClr val="98A49C"/>
                </a:solidFill>
                <a:latin typeface="Helvetica"/>
              </a:rPr>
              <a:t>R₃ DB MTTR</a:t>
            </a:r>
          </a:p>
        </p:txBody>
      </p:sp>
      <p:sp>
        <p:nvSpPr>
          <p:cNvPr id="29" name="TextBox 28"/>
          <p:cNvSpPr txBox="1"/>
          <p:nvPr/>
        </p:nvSpPr>
        <p:spPr>
          <a:xfrm>
            <a:off x="8961120" y="4005072"/>
            <a:ext cx="2468880" cy="365760"/>
          </a:xfrm>
          <a:prstGeom prst="rect">
            <a:avLst/>
          </a:prstGeom>
          <a:noFill/>
        </p:spPr>
        <p:txBody>
          <a:bodyPr wrap="square" lIns="0" rIns="0" tIns="0" bIns="0" anchor="t">
            <a:spAutoFit/>
          </a:bodyPr>
          <a:lstStyle/>
          <a:p>
            <a:pPr algn="l"/>
            <a:r>
              <a:rPr sz="1300" b="1" i="0">
                <a:solidFill>
                  <a:srgbClr val="3BD67A"/>
                </a:solidFill>
                <a:latin typeface="Helvetica"/>
              </a:rPr>
              <a:t>12.56s fence+resume</a:t>
            </a:r>
          </a:p>
        </p:txBody>
      </p:sp>
      <p:sp>
        <p:nvSpPr>
          <p:cNvPr id="30" name="TextBox 29"/>
          <p:cNvSpPr txBox="1"/>
          <p:nvPr/>
        </p:nvSpPr>
        <p:spPr>
          <a:xfrm>
            <a:off x="6583680" y="4480560"/>
            <a:ext cx="2743200" cy="365760"/>
          </a:xfrm>
          <a:prstGeom prst="rect">
            <a:avLst/>
          </a:prstGeom>
          <a:noFill/>
        </p:spPr>
        <p:txBody>
          <a:bodyPr wrap="square" lIns="0" rIns="0" tIns="0" bIns="0" anchor="t">
            <a:spAutoFit/>
          </a:bodyPr>
          <a:lstStyle/>
          <a:p>
            <a:pPr algn="l"/>
            <a:r>
              <a:rPr sz="1300" b="0" i="0">
                <a:solidFill>
                  <a:srgbClr val="98A49C"/>
                </a:solidFill>
                <a:latin typeface="Helvetica"/>
              </a:rPr>
              <a:t>R (per attack avg)</a:t>
            </a:r>
          </a:p>
        </p:txBody>
      </p:sp>
      <p:sp>
        <p:nvSpPr>
          <p:cNvPr id="31" name="TextBox 30"/>
          <p:cNvSpPr txBox="1"/>
          <p:nvPr/>
        </p:nvSpPr>
        <p:spPr>
          <a:xfrm>
            <a:off x="8961120" y="4480560"/>
            <a:ext cx="2468880" cy="365760"/>
          </a:xfrm>
          <a:prstGeom prst="rect">
            <a:avLst/>
          </a:prstGeom>
          <a:noFill/>
        </p:spPr>
        <p:txBody>
          <a:bodyPr wrap="square" lIns="0" rIns="0" tIns="0" bIns="0" anchor="t">
            <a:spAutoFit/>
          </a:bodyPr>
          <a:lstStyle/>
          <a:p>
            <a:pPr algn="l"/>
            <a:r>
              <a:rPr sz="1300" b="1" i="0">
                <a:solidFill>
                  <a:srgbClr val="3BD67A"/>
                </a:solidFill>
                <a:latin typeface="Helvetica"/>
              </a:rPr>
              <a:t>4.6s</a:t>
            </a:r>
          </a:p>
        </p:txBody>
      </p:sp>
      <p:sp>
        <p:nvSpPr>
          <p:cNvPr id="32" name="TextBox 31"/>
          <p:cNvSpPr txBox="1"/>
          <p:nvPr/>
        </p:nvSpPr>
        <p:spPr>
          <a:xfrm>
            <a:off x="6583680" y="4956048"/>
            <a:ext cx="2743200" cy="365760"/>
          </a:xfrm>
          <a:prstGeom prst="rect">
            <a:avLst/>
          </a:prstGeom>
          <a:noFill/>
        </p:spPr>
        <p:txBody>
          <a:bodyPr wrap="square" lIns="0" rIns="0" tIns="0" bIns="0" anchor="t">
            <a:spAutoFit/>
          </a:bodyPr>
          <a:lstStyle/>
          <a:p>
            <a:pPr algn="l"/>
            <a:r>
              <a:rPr sz="1300" b="0" i="0">
                <a:solidFill>
                  <a:srgbClr val="98A49C"/>
                </a:solidFill>
                <a:latin typeface="Helvetica"/>
              </a:rPr>
              <a:t>Verdict</a:t>
            </a:r>
          </a:p>
        </p:txBody>
      </p:sp>
      <p:sp>
        <p:nvSpPr>
          <p:cNvPr id="33" name="TextBox 32"/>
          <p:cNvSpPr txBox="1"/>
          <p:nvPr/>
        </p:nvSpPr>
        <p:spPr>
          <a:xfrm>
            <a:off x="8961120" y="4956048"/>
            <a:ext cx="2468880" cy="365760"/>
          </a:xfrm>
          <a:prstGeom prst="rect">
            <a:avLst/>
          </a:prstGeom>
          <a:noFill/>
        </p:spPr>
        <p:txBody>
          <a:bodyPr wrap="square" lIns="0" rIns="0" tIns="0" bIns="0" anchor="t">
            <a:spAutoFit/>
          </a:bodyPr>
          <a:lstStyle/>
          <a:p>
            <a:pPr algn="l"/>
            <a:r>
              <a:rPr sz="1300" b="1" i="0">
                <a:solidFill>
                  <a:srgbClr val="3BD67A"/>
                </a:solidFill>
                <a:latin typeface="Helvetica"/>
              </a:rPr>
              <a:t>R &lt; V → WIN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The B-V-R Equation</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Three variables. One inequality. Binary outcome.</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TextBox 6"/>
          <p:cNvSpPr txBox="1"/>
          <p:nvPr/>
        </p:nvSpPr>
        <p:spPr>
          <a:xfrm>
            <a:off x="914400" y="2103120"/>
            <a:ext cx="10332720" cy="1097280"/>
          </a:xfrm>
          <a:prstGeom prst="rect">
            <a:avLst/>
          </a:prstGeom>
          <a:noFill/>
        </p:spPr>
        <p:txBody>
          <a:bodyPr wrap="square" lIns="0" rIns="0" tIns="0" bIns="0" anchor="t">
            <a:spAutoFit/>
          </a:bodyPr>
          <a:lstStyle/>
          <a:p>
            <a:pPr algn="ctr"/>
            <a:r>
              <a:rPr sz="9600" b="1" i="0">
                <a:solidFill>
                  <a:srgbClr val="3BD67A"/>
                </a:solidFill>
                <a:latin typeface="Helvetica"/>
              </a:rPr>
              <a:t>R  &lt;  V</a:t>
            </a:r>
          </a:p>
        </p:txBody>
      </p:sp>
      <p:sp>
        <p:nvSpPr>
          <p:cNvPr id="8" name="TextBox 7"/>
          <p:cNvSpPr txBox="1"/>
          <p:nvPr/>
        </p:nvSpPr>
        <p:spPr>
          <a:xfrm>
            <a:off x="914400" y="3383280"/>
            <a:ext cx="10332720" cy="457200"/>
          </a:xfrm>
          <a:prstGeom prst="rect">
            <a:avLst/>
          </a:prstGeom>
          <a:noFill/>
        </p:spPr>
        <p:txBody>
          <a:bodyPr wrap="square" lIns="0" rIns="0" tIns="0" bIns="0" anchor="t">
            <a:spAutoFit/>
          </a:bodyPr>
          <a:lstStyle/>
          <a:p>
            <a:pPr algn="ctr"/>
            <a:r>
              <a:rPr sz="1800" b="0" i="1">
                <a:solidFill>
                  <a:srgbClr val="98A49C"/>
                </a:solidFill>
                <a:latin typeface="Helvetica"/>
              </a:rPr>
              <a:t>Recovery faster than Vulnerability velocity → DEFENDER WINS</a:t>
            </a:r>
          </a:p>
        </p:txBody>
      </p:sp>
      <p:sp>
        <p:nvSpPr>
          <p:cNvPr id="9" name="Rectangle 8"/>
          <p:cNvSpPr/>
          <p:nvPr/>
        </p:nvSpPr>
        <p:spPr>
          <a:xfrm>
            <a:off x="640080" y="4206240"/>
            <a:ext cx="3657600" cy="2011680"/>
          </a:xfrm>
          <a:prstGeom prst="rect">
            <a:avLst/>
          </a:prstGeom>
          <a:solidFill>
            <a:srgbClr val="0F1F17"/>
          </a:solidFill>
          <a:ln w="12700">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343400"/>
            <a:ext cx="3657600" cy="731520"/>
          </a:xfrm>
          <a:prstGeom prst="rect">
            <a:avLst/>
          </a:prstGeom>
          <a:noFill/>
        </p:spPr>
        <p:txBody>
          <a:bodyPr wrap="square" lIns="0" rIns="0" tIns="0" bIns="0" anchor="t">
            <a:spAutoFit/>
          </a:bodyPr>
          <a:lstStyle/>
          <a:p>
            <a:pPr algn="ctr"/>
            <a:r>
              <a:rPr sz="5400" b="1" i="0">
                <a:solidFill>
                  <a:srgbClr val="E54242"/>
                </a:solidFill>
                <a:latin typeface="Helvetica"/>
              </a:rPr>
              <a:t>B</a:t>
            </a:r>
          </a:p>
        </p:txBody>
      </p:sp>
      <p:sp>
        <p:nvSpPr>
          <p:cNvPr id="11" name="TextBox 10"/>
          <p:cNvSpPr txBox="1"/>
          <p:nvPr/>
        </p:nvSpPr>
        <p:spPr>
          <a:xfrm>
            <a:off x="640080" y="5257800"/>
            <a:ext cx="3657600" cy="365760"/>
          </a:xfrm>
          <a:prstGeom prst="rect">
            <a:avLst/>
          </a:prstGeom>
          <a:noFill/>
        </p:spPr>
        <p:txBody>
          <a:bodyPr wrap="square" lIns="0" rIns="0" tIns="0" bIns="0" anchor="t">
            <a:spAutoFit/>
          </a:bodyPr>
          <a:lstStyle/>
          <a:p>
            <a:pPr algn="ctr"/>
            <a:r>
              <a:rPr sz="1600" b="1" i="0">
                <a:solidFill>
                  <a:srgbClr val="E8F0EA"/>
                </a:solidFill>
                <a:latin typeface="Helvetica"/>
              </a:rPr>
              <a:t>Bleed Rate</a:t>
            </a:r>
          </a:p>
        </p:txBody>
      </p:sp>
      <p:sp>
        <p:nvSpPr>
          <p:cNvPr id="12" name="TextBox 11"/>
          <p:cNvSpPr txBox="1"/>
          <p:nvPr/>
        </p:nvSpPr>
        <p:spPr>
          <a:xfrm>
            <a:off x="640080" y="5669280"/>
            <a:ext cx="3657600" cy="365760"/>
          </a:xfrm>
          <a:prstGeom prst="rect">
            <a:avLst/>
          </a:prstGeom>
          <a:noFill/>
        </p:spPr>
        <p:txBody>
          <a:bodyPr wrap="square" lIns="0" rIns="0" tIns="0" bIns="0" anchor="t">
            <a:spAutoFit/>
          </a:bodyPr>
          <a:lstStyle/>
          <a:p>
            <a:pPr algn="ctr"/>
            <a:r>
              <a:rPr sz="1200" b="0" i="1">
                <a:solidFill>
                  <a:srgbClr val="98A49C"/>
                </a:solidFill>
                <a:latin typeface="Helvetica"/>
              </a:rPr>
              <a:t>$ per minute of darkness</a:t>
            </a:r>
          </a:p>
        </p:txBody>
      </p:sp>
      <p:sp>
        <p:nvSpPr>
          <p:cNvPr id="13" name="Rectangle 12"/>
          <p:cNvSpPr/>
          <p:nvPr/>
        </p:nvSpPr>
        <p:spPr>
          <a:xfrm>
            <a:off x="4434840" y="4206240"/>
            <a:ext cx="3657600" cy="2011680"/>
          </a:xfrm>
          <a:prstGeom prst="rect">
            <a:avLst/>
          </a:prstGeom>
          <a:solidFill>
            <a:srgbClr val="0F1F17"/>
          </a:solidFill>
          <a:ln w="12700">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4343400"/>
            <a:ext cx="3657600" cy="731520"/>
          </a:xfrm>
          <a:prstGeom prst="rect">
            <a:avLst/>
          </a:prstGeom>
          <a:noFill/>
        </p:spPr>
        <p:txBody>
          <a:bodyPr wrap="square" lIns="0" rIns="0" tIns="0" bIns="0" anchor="t">
            <a:spAutoFit/>
          </a:bodyPr>
          <a:lstStyle/>
          <a:p>
            <a:pPr algn="ctr"/>
            <a:r>
              <a:rPr sz="5400" b="1" i="0">
                <a:solidFill>
                  <a:srgbClr val="F4B437"/>
                </a:solidFill>
                <a:latin typeface="Helvetica"/>
              </a:rPr>
              <a:t>V</a:t>
            </a:r>
          </a:p>
        </p:txBody>
      </p:sp>
      <p:sp>
        <p:nvSpPr>
          <p:cNvPr id="15" name="TextBox 14"/>
          <p:cNvSpPr txBox="1"/>
          <p:nvPr/>
        </p:nvSpPr>
        <p:spPr>
          <a:xfrm>
            <a:off x="4434840" y="5257800"/>
            <a:ext cx="3657600" cy="365760"/>
          </a:xfrm>
          <a:prstGeom prst="rect">
            <a:avLst/>
          </a:prstGeom>
          <a:noFill/>
        </p:spPr>
        <p:txBody>
          <a:bodyPr wrap="square" lIns="0" rIns="0" tIns="0" bIns="0" anchor="t">
            <a:spAutoFit/>
          </a:bodyPr>
          <a:lstStyle/>
          <a:p>
            <a:pPr algn="ctr"/>
            <a:r>
              <a:rPr sz="1600" b="1" i="0">
                <a:solidFill>
                  <a:srgbClr val="E8F0EA"/>
                </a:solidFill>
                <a:latin typeface="Helvetica"/>
              </a:rPr>
              <a:t>Vulnerability Vel.</a:t>
            </a:r>
          </a:p>
        </p:txBody>
      </p:sp>
      <p:sp>
        <p:nvSpPr>
          <p:cNvPr id="16" name="TextBox 15"/>
          <p:cNvSpPr txBox="1"/>
          <p:nvPr/>
        </p:nvSpPr>
        <p:spPr>
          <a:xfrm>
            <a:off x="4434840" y="5669280"/>
            <a:ext cx="3657600" cy="365760"/>
          </a:xfrm>
          <a:prstGeom prst="rect">
            <a:avLst/>
          </a:prstGeom>
          <a:noFill/>
        </p:spPr>
        <p:txBody>
          <a:bodyPr wrap="square" lIns="0" rIns="0" tIns="0" bIns="0" anchor="t">
            <a:spAutoFit/>
          </a:bodyPr>
          <a:lstStyle/>
          <a:p>
            <a:pPr algn="ctr"/>
            <a:r>
              <a:rPr sz="1200" b="0" i="1">
                <a:solidFill>
                  <a:srgbClr val="98A49C"/>
                </a:solidFill>
                <a:latin typeface="Helvetica"/>
              </a:rPr>
              <a:t>seconds to full compromise</a:t>
            </a:r>
          </a:p>
        </p:txBody>
      </p:sp>
      <p:sp>
        <p:nvSpPr>
          <p:cNvPr id="17" name="Rectangle 16"/>
          <p:cNvSpPr/>
          <p:nvPr/>
        </p:nvSpPr>
        <p:spPr>
          <a:xfrm>
            <a:off x="8229600" y="4206240"/>
            <a:ext cx="3657600" cy="2011680"/>
          </a:xfrm>
          <a:prstGeom prst="rect">
            <a:avLst/>
          </a:prstGeom>
          <a:solidFill>
            <a:srgbClr val="0F1F17"/>
          </a:solidFill>
          <a:ln w="1270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4343400"/>
            <a:ext cx="3657600" cy="731520"/>
          </a:xfrm>
          <a:prstGeom prst="rect">
            <a:avLst/>
          </a:prstGeom>
          <a:noFill/>
        </p:spPr>
        <p:txBody>
          <a:bodyPr wrap="square" lIns="0" rIns="0" tIns="0" bIns="0" anchor="t">
            <a:spAutoFit/>
          </a:bodyPr>
          <a:lstStyle/>
          <a:p>
            <a:pPr algn="ctr"/>
            <a:r>
              <a:rPr sz="5400" b="1" i="0">
                <a:solidFill>
                  <a:srgbClr val="3BD67A"/>
                </a:solidFill>
                <a:latin typeface="Helvetica"/>
              </a:rPr>
              <a:t>R</a:t>
            </a:r>
          </a:p>
        </p:txBody>
      </p:sp>
      <p:sp>
        <p:nvSpPr>
          <p:cNvPr id="19" name="TextBox 18"/>
          <p:cNvSpPr txBox="1"/>
          <p:nvPr/>
        </p:nvSpPr>
        <p:spPr>
          <a:xfrm>
            <a:off x="8229600" y="5257800"/>
            <a:ext cx="3657600" cy="365760"/>
          </a:xfrm>
          <a:prstGeom prst="rect">
            <a:avLst/>
          </a:prstGeom>
          <a:noFill/>
        </p:spPr>
        <p:txBody>
          <a:bodyPr wrap="square" lIns="0" rIns="0" tIns="0" bIns="0" anchor="t">
            <a:spAutoFit/>
          </a:bodyPr>
          <a:lstStyle/>
          <a:p>
            <a:pPr algn="ctr"/>
            <a:r>
              <a:rPr sz="1600" b="1" i="0">
                <a:solidFill>
                  <a:srgbClr val="E8F0EA"/>
                </a:solidFill>
                <a:latin typeface="Helvetica"/>
              </a:rPr>
              <a:t>Recovery Runway</a:t>
            </a:r>
          </a:p>
        </p:txBody>
      </p:sp>
      <p:sp>
        <p:nvSpPr>
          <p:cNvPr id="20" name="TextBox 19"/>
          <p:cNvSpPr txBox="1"/>
          <p:nvPr/>
        </p:nvSpPr>
        <p:spPr>
          <a:xfrm>
            <a:off x="8229600" y="5669280"/>
            <a:ext cx="3657600" cy="365760"/>
          </a:xfrm>
          <a:prstGeom prst="rect">
            <a:avLst/>
          </a:prstGeom>
          <a:noFill/>
        </p:spPr>
        <p:txBody>
          <a:bodyPr wrap="square" lIns="0" rIns="0" tIns="0" bIns="0" anchor="t">
            <a:spAutoFit/>
          </a:bodyPr>
          <a:lstStyle/>
          <a:p>
            <a:pPr algn="ctr"/>
            <a:r>
              <a:rPr sz="1200" b="0" i="1">
                <a:solidFill>
                  <a:srgbClr val="98A49C"/>
                </a:solidFill>
                <a:latin typeface="Helvetica"/>
              </a:rPr>
              <a:t>seconds until HTTP 200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E54242"/>
          </a:solidFill>
          <a:ln>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B — Bleed Rate: $5,000 / minute</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FAIR Monte Carlo on Loss Magnitude — not a guess, a measurement</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TextBox 6"/>
          <p:cNvSpPr txBox="1"/>
          <p:nvPr/>
        </p:nvSpPr>
        <p:spPr>
          <a:xfrm>
            <a:off x="640080" y="1554480"/>
            <a:ext cx="5486400" cy="457200"/>
          </a:xfrm>
          <a:prstGeom prst="rect">
            <a:avLst/>
          </a:prstGeom>
          <a:noFill/>
        </p:spPr>
        <p:txBody>
          <a:bodyPr wrap="square" lIns="0" rIns="0" tIns="0" bIns="0" anchor="t">
            <a:spAutoFit/>
          </a:bodyPr>
          <a:lstStyle/>
          <a:p>
            <a:pPr algn="l"/>
            <a:r>
              <a:rPr sz="1500" b="1" i="0">
                <a:solidFill>
                  <a:srgbClr val="3BD67A"/>
                </a:solidFill>
                <a:latin typeface="Helvetica"/>
              </a:rPr>
              <a:t>THE MATH</a:t>
            </a:r>
          </a:p>
        </p:txBody>
      </p:sp>
      <p:sp>
        <p:nvSpPr>
          <p:cNvPr id="8" name="TextBox 7"/>
          <p:cNvSpPr txBox="1"/>
          <p:nvPr/>
        </p:nvSpPr>
        <p:spPr>
          <a:xfrm>
            <a:off x="640080" y="2011680"/>
            <a:ext cx="3200400" cy="365760"/>
          </a:xfrm>
          <a:prstGeom prst="rect">
            <a:avLst/>
          </a:prstGeom>
          <a:noFill/>
        </p:spPr>
        <p:txBody>
          <a:bodyPr wrap="square" lIns="0" rIns="0" tIns="0" bIns="0" anchor="t">
            <a:spAutoFit/>
          </a:bodyPr>
          <a:lstStyle/>
          <a:p>
            <a:pPr algn="l"/>
            <a:r>
              <a:rPr sz="1300" b="0" i="0">
                <a:solidFill>
                  <a:srgbClr val="98A49C"/>
                </a:solidFill>
                <a:latin typeface="Helvetica"/>
              </a:rPr>
              <a:t>Annual revenue:</a:t>
            </a:r>
          </a:p>
        </p:txBody>
      </p:sp>
      <p:sp>
        <p:nvSpPr>
          <p:cNvPr id="9" name="TextBox 8"/>
          <p:cNvSpPr txBox="1"/>
          <p:nvPr/>
        </p:nvSpPr>
        <p:spPr>
          <a:xfrm>
            <a:off x="3931920" y="2011680"/>
            <a:ext cx="2103120" cy="365760"/>
          </a:xfrm>
          <a:prstGeom prst="rect">
            <a:avLst/>
          </a:prstGeom>
          <a:noFill/>
        </p:spPr>
        <p:txBody>
          <a:bodyPr wrap="square" lIns="0" rIns="0" tIns="0" bIns="0" anchor="t">
            <a:spAutoFit/>
          </a:bodyPr>
          <a:lstStyle/>
          <a:p>
            <a:pPr algn="l"/>
            <a:r>
              <a:rPr sz="1300" b="1" i="0">
                <a:solidFill>
                  <a:srgbClr val="E8F0EA"/>
                </a:solidFill>
                <a:latin typeface="Helvetica"/>
              </a:rPr>
              <a:t>$3,000,000,000</a:t>
            </a:r>
          </a:p>
        </p:txBody>
      </p:sp>
      <p:sp>
        <p:nvSpPr>
          <p:cNvPr id="10" name="TextBox 9"/>
          <p:cNvSpPr txBox="1"/>
          <p:nvPr/>
        </p:nvSpPr>
        <p:spPr>
          <a:xfrm>
            <a:off x="640080" y="2395728"/>
            <a:ext cx="3200400" cy="365760"/>
          </a:xfrm>
          <a:prstGeom prst="rect">
            <a:avLst/>
          </a:prstGeom>
          <a:noFill/>
        </p:spPr>
        <p:txBody>
          <a:bodyPr wrap="square" lIns="0" rIns="0" tIns="0" bIns="0" anchor="t">
            <a:spAutoFit/>
          </a:bodyPr>
          <a:lstStyle/>
          <a:p>
            <a:pPr algn="l"/>
            <a:r>
              <a:rPr sz="1300" b="0" i="0">
                <a:solidFill>
                  <a:srgbClr val="98A49C"/>
                </a:solidFill>
                <a:latin typeface="Helvetica"/>
              </a:rPr>
              <a:t>÷ minutes per year (525,600):</a:t>
            </a:r>
          </a:p>
        </p:txBody>
      </p:sp>
      <p:sp>
        <p:nvSpPr>
          <p:cNvPr id="11" name="TextBox 10"/>
          <p:cNvSpPr txBox="1"/>
          <p:nvPr/>
        </p:nvSpPr>
        <p:spPr>
          <a:xfrm>
            <a:off x="3931920" y="2395728"/>
            <a:ext cx="2103120" cy="365760"/>
          </a:xfrm>
          <a:prstGeom prst="rect">
            <a:avLst/>
          </a:prstGeom>
          <a:noFill/>
        </p:spPr>
        <p:txBody>
          <a:bodyPr wrap="square" lIns="0" rIns="0" tIns="0" bIns="0" anchor="t">
            <a:spAutoFit/>
          </a:bodyPr>
          <a:lstStyle/>
          <a:p>
            <a:pPr algn="l"/>
            <a:r>
              <a:rPr sz="1300" b="1" i="0">
                <a:solidFill>
                  <a:srgbClr val="E8F0EA"/>
                </a:solidFill>
                <a:latin typeface="Helvetica"/>
              </a:rPr>
              <a:t>$5,707 / min</a:t>
            </a:r>
          </a:p>
        </p:txBody>
      </p:sp>
      <p:sp>
        <p:nvSpPr>
          <p:cNvPr id="12" name="TextBox 11"/>
          <p:cNvSpPr txBox="1"/>
          <p:nvPr/>
        </p:nvSpPr>
        <p:spPr>
          <a:xfrm>
            <a:off x="640080" y="2779776"/>
            <a:ext cx="3200400" cy="365760"/>
          </a:xfrm>
          <a:prstGeom prst="rect">
            <a:avLst/>
          </a:prstGeom>
          <a:noFill/>
        </p:spPr>
        <p:txBody>
          <a:bodyPr wrap="square" lIns="0" rIns="0" tIns="0" bIns="0" anchor="t">
            <a:spAutoFit/>
          </a:bodyPr>
          <a:lstStyle/>
          <a:p>
            <a:pPr algn="l"/>
            <a:r>
              <a:rPr sz="1300" b="0" i="0">
                <a:solidFill>
                  <a:srgbClr val="98A49C"/>
                </a:solidFill>
                <a:latin typeface="Helvetica"/>
              </a:rPr>
              <a:t>+ productivity loss:</a:t>
            </a:r>
          </a:p>
        </p:txBody>
      </p:sp>
      <p:sp>
        <p:nvSpPr>
          <p:cNvPr id="13" name="TextBox 12"/>
          <p:cNvSpPr txBox="1"/>
          <p:nvPr/>
        </p:nvSpPr>
        <p:spPr>
          <a:xfrm>
            <a:off x="3931920" y="2779776"/>
            <a:ext cx="2103120" cy="365760"/>
          </a:xfrm>
          <a:prstGeom prst="rect">
            <a:avLst/>
          </a:prstGeom>
          <a:noFill/>
        </p:spPr>
        <p:txBody>
          <a:bodyPr wrap="square" lIns="0" rIns="0" tIns="0" bIns="0" anchor="t">
            <a:spAutoFit/>
          </a:bodyPr>
          <a:lstStyle/>
          <a:p>
            <a:pPr algn="l"/>
            <a:r>
              <a:rPr sz="1300" b="1" i="0">
                <a:solidFill>
                  <a:srgbClr val="E8F0EA"/>
                </a:solidFill>
                <a:latin typeface="Helvetica"/>
              </a:rPr>
              <a:t>(FAIR component)</a:t>
            </a:r>
          </a:p>
        </p:txBody>
      </p:sp>
      <p:sp>
        <p:nvSpPr>
          <p:cNvPr id="14" name="TextBox 13"/>
          <p:cNvSpPr txBox="1"/>
          <p:nvPr/>
        </p:nvSpPr>
        <p:spPr>
          <a:xfrm>
            <a:off x="640080" y="3163824"/>
            <a:ext cx="3200400" cy="365760"/>
          </a:xfrm>
          <a:prstGeom prst="rect">
            <a:avLst/>
          </a:prstGeom>
          <a:noFill/>
        </p:spPr>
        <p:txBody>
          <a:bodyPr wrap="square" lIns="0" rIns="0" tIns="0" bIns="0" anchor="t">
            <a:spAutoFit/>
          </a:bodyPr>
          <a:lstStyle/>
          <a:p>
            <a:pPr algn="l"/>
            <a:r>
              <a:rPr sz="1300" b="0" i="0">
                <a:solidFill>
                  <a:srgbClr val="98A49C"/>
                </a:solidFill>
                <a:latin typeface="Helvetica"/>
              </a:rPr>
              <a:t>+ incident response cost:</a:t>
            </a:r>
          </a:p>
        </p:txBody>
      </p:sp>
      <p:sp>
        <p:nvSpPr>
          <p:cNvPr id="15" name="TextBox 14"/>
          <p:cNvSpPr txBox="1"/>
          <p:nvPr/>
        </p:nvSpPr>
        <p:spPr>
          <a:xfrm>
            <a:off x="3931920" y="3163824"/>
            <a:ext cx="2103120" cy="365760"/>
          </a:xfrm>
          <a:prstGeom prst="rect">
            <a:avLst/>
          </a:prstGeom>
          <a:noFill/>
        </p:spPr>
        <p:txBody>
          <a:bodyPr wrap="square" lIns="0" rIns="0" tIns="0" bIns="0" anchor="t">
            <a:spAutoFit/>
          </a:bodyPr>
          <a:lstStyle/>
          <a:p>
            <a:pPr algn="l"/>
            <a:r>
              <a:rPr sz="1300" b="1" i="0">
                <a:solidFill>
                  <a:srgbClr val="E8F0EA"/>
                </a:solidFill>
                <a:latin typeface="Helvetica"/>
              </a:rPr>
              <a:t>(FAIR component)</a:t>
            </a:r>
          </a:p>
        </p:txBody>
      </p:sp>
      <p:sp>
        <p:nvSpPr>
          <p:cNvPr id="16" name="TextBox 15"/>
          <p:cNvSpPr txBox="1"/>
          <p:nvPr/>
        </p:nvSpPr>
        <p:spPr>
          <a:xfrm>
            <a:off x="640080" y="3547872"/>
            <a:ext cx="3200400" cy="365760"/>
          </a:xfrm>
          <a:prstGeom prst="rect">
            <a:avLst/>
          </a:prstGeom>
          <a:noFill/>
        </p:spPr>
        <p:txBody>
          <a:bodyPr wrap="square" lIns="0" rIns="0" tIns="0" bIns="0" anchor="t">
            <a:spAutoFit/>
          </a:bodyPr>
          <a:lstStyle/>
          <a:p>
            <a:pPr algn="l"/>
            <a:r>
              <a:rPr sz="1300" b="0" i="0">
                <a:solidFill>
                  <a:srgbClr val="98A49C"/>
                </a:solidFill>
                <a:latin typeface="Helvetica"/>
              </a:rPr>
              <a:t>+ regulatory exposure:</a:t>
            </a:r>
          </a:p>
        </p:txBody>
      </p:sp>
      <p:sp>
        <p:nvSpPr>
          <p:cNvPr id="17" name="TextBox 16"/>
          <p:cNvSpPr txBox="1"/>
          <p:nvPr/>
        </p:nvSpPr>
        <p:spPr>
          <a:xfrm>
            <a:off x="3931920" y="3547872"/>
            <a:ext cx="2103120" cy="365760"/>
          </a:xfrm>
          <a:prstGeom prst="rect">
            <a:avLst/>
          </a:prstGeom>
          <a:noFill/>
        </p:spPr>
        <p:txBody>
          <a:bodyPr wrap="square" lIns="0" rIns="0" tIns="0" bIns="0" anchor="t">
            <a:spAutoFit/>
          </a:bodyPr>
          <a:lstStyle/>
          <a:p>
            <a:pPr algn="l"/>
            <a:r>
              <a:rPr sz="1300" b="1" i="0">
                <a:solidFill>
                  <a:srgbClr val="E8F0EA"/>
                </a:solidFill>
                <a:latin typeface="Helvetica"/>
              </a:rPr>
              <a:t>(FAIR component)</a:t>
            </a:r>
          </a:p>
        </p:txBody>
      </p:sp>
      <p:sp>
        <p:nvSpPr>
          <p:cNvPr id="18" name="TextBox 17"/>
          <p:cNvSpPr txBox="1"/>
          <p:nvPr/>
        </p:nvSpPr>
        <p:spPr>
          <a:xfrm>
            <a:off x="640080" y="3931920"/>
            <a:ext cx="3200400" cy="365760"/>
          </a:xfrm>
          <a:prstGeom prst="rect">
            <a:avLst/>
          </a:prstGeom>
          <a:noFill/>
        </p:spPr>
        <p:txBody>
          <a:bodyPr wrap="square" lIns="0" rIns="0" tIns="0" bIns="0" anchor="t">
            <a:spAutoFit/>
          </a:bodyPr>
          <a:lstStyle/>
          <a:p>
            <a:pPr algn="l"/>
            <a:r>
              <a:rPr sz="1300" b="0" i="0">
                <a:solidFill>
                  <a:srgbClr val="98A49C"/>
                </a:solidFill>
                <a:latin typeface="Helvetica"/>
              </a:rPr>
              <a:t>Monte Carlo converges:</a:t>
            </a:r>
          </a:p>
        </p:txBody>
      </p:sp>
      <p:sp>
        <p:nvSpPr>
          <p:cNvPr id="19" name="TextBox 18"/>
          <p:cNvSpPr txBox="1"/>
          <p:nvPr/>
        </p:nvSpPr>
        <p:spPr>
          <a:xfrm>
            <a:off x="3931920" y="3931920"/>
            <a:ext cx="2103120" cy="365760"/>
          </a:xfrm>
          <a:prstGeom prst="rect">
            <a:avLst/>
          </a:prstGeom>
          <a:noFill/>
        </p:spPr>
        <p:txBody>
          <a:bodyPr wrap="square" lIns="0" rIns="0" tIns="0" bIns="0" anchor="t">
            <a:spAutoFit/>
          </a:bodyPr>
          <a:lstStyle/>
          <a:p>
            <a:pPr algn="l"/>
            <a:r>
              <a:rPr sz="1300" b="1" i="0">
                <a:solidFill>
                  <a:srgbClr val="E8F0EA"/>
                </a:solidFill>
                <a:latin typeface="Helvetica"/>
              </a:rPr>
              <a:t>≈ $5,707 / min</a:t>
            </a:r>
          </a:p>
        </p:txBody>
      </p:sp>
      <p:sp>
        <p:nvSpPr>
          <p:cNvPr id="20" name="TextBox 19"/>
          <p:cNvSpPr txBox="1"/>
          <p:nvPr/>
        </p:nvSpPr>
        <p:spPr>
          <a:xfrm>
            <a:off x="640080" y="4315968"/>
            <a:ext cx="3200400" cy="365760"/>
          </a:xfrm>
          <a:prstGeom prst="rect">
            <a:avLst/>
          </a:prstGeom>
          <a:noFill/>
        </p:spPr>
        <p:txBody>
          <a:bodyPr wrap="square" lIns="0" rIns="0" tIns="0" bIns="0" anchor="t">
            <a:spAutoFit/>
          </a:bodyPr>
          <a:lstStyle/>
          <a:p>
            <a:pPr algn="l"/>
            <a:r>
              <a:rPr sz="1300" b="0" i="0">
                <a:solidFill>
                  <a:srgbClr val="98A49C"/>
                </a:solidFill>
                <a:latin typeface="Helvetica"/>
              </a:rPr>
              <a:t>Rounded conservatively:</a:t>
            </a:r>
          </a:p>
        </p:txBody>
      </p:sp>
      <p:sp>
        <p:nvSpPr>
          <p:cNvPr id="21" name="TextBox 20"/>
          <p:cNvSpPr txBox="1"/>
          <p:nvPr/>
        </p:nvSpPr>
        <p:spPr>
          <a:xfrm>
            <a:off x="3931920" y="4315968"/>
            <a:ext cx="2103120" cy="365760"/>
          </a:xfrm>
          <a:prstGeom prst="rect">
            <a:avLst/>
          </a:prstGeom>
          <a:noFill/>
        </p:spPr>
        <p:txBody>
          <a:bodyPr wrap="square" lIns="0" rIns="0" tIns="0" bIns="0" anchor="t">
            <a:spAutoFit/>
          </a:bodyPr>
          <a:lstStyle/>
          <a:p>
            <a:pPr algn="l"/>
            <a:r>
              <a:rPr sz="1300" b="1" i="0">
                <a:solidFill>
                  <a:srgbClr val="E8F0EA"/>
                </a:solidFill>
                <a:latin typeface="Helvetica"/>
              </a:rPr>
              <a:t>$5,000 / min</a:t>
            </a:r>
          </a:p>
        </p:txBody>
      </p:sp>
      <p:sp>
        <p:nvSpPr>
          <p:cNvPr id="22" name="TextBox 21"/>
          <p:cNvSpPr txBox="1"/>
          <p:nvPr/>
        </p:nvSpPr>
        <p:spPr>
          <a:xfrm>
            <a:off x="6583680" y="1554480"/>
            <a:ext cx="5029200" cy="457200"/>
          </a:xfrm>
          <a:prstGeom prst="rect">
            <a:avLst/>
          </a:prstGeom>
          <a:noFill/>
        </p:spPr>
        <p:txBody>
          <a:bodyPr wrap="square" lIns="0" rIns="0" tIns="0" bIns="0" anchor="t">
            <a:spAutoFit/>
          </a:bodyPr>
          <a:lstStyle/>
          <a:p>
            <a:pPr algn="l"/>
            <a:r>
              <a:rPr sz="1500" b="1" i="0">
                <a:solidFill>
                  <a:srgbClr val="3BD67A"/>
                </a:solidFill>
                <a:latin typeface="Helvetica"/>
              </a:rPr>
              <a:t>REAL BREACH ANCHORS</a:t>
            </a:r>
          </a:p>
        </p:txBody>
      </p:sp>
      <p:sp>
        <p:nvSpPr>
          <p:cNvPr id="23" name="TextBox 22"/>
          <p:cNvSpPr txBox="1"/>
          <p:nvPr/>
        </p:nvSpPr>
        <p:spPr>
          <a:xfrm>
            <a:off x="6583680" y="2103120"/>
            <a:ext cx="3657600" cy="365760"/>
          </a:xfrm>
          <a:prstGeom prst="rect">
            <a:avLst/>
          </a:prstGeom>
          <a:noFill/>
        </p:spPr>
        <p:txBody>
          <a:bodyPr wrap="square" lIns="0" rIns="0" tIns="0" bIns="0" anchor="t">
            <a:spAutoFit/>
          </a:bodyPr>
          <a:lstStyle/>
          <a:p>
            <a:pPr algn="l"/>
            <a:r>
              <a:rPr sz="1200" b="0" i="0">
                <a:solidFill>
                  <a:srgbClr val="98A49C"/>
                </a:solidFill>
                <a:latin typeface="Helvetica"/>
              </a:rPr>
              <a:t>British Airways 2018 (ICO + remediation)</a:t>
            </a:r>
          </a:p>
        </p:txBody>
      </p:sp>
      <p:sp>
        <p:nvSpPr>
          <p:cNvPr id="24" name="TextBox 23"/>
          <p:cNvSpPr txBox="1"/>
          <p:nvPr/>
        </p:nvSpPr>
        <p:spPr>
          <a:xfrm>
            <a:off x="6583680" y="2377440"/>
            <a:ext cx="4572000" cy="365760"/>
          </a:xfrm>
          <a:prstGeom prst="rect">
            <a:avLst/>
          </a:prstGeom>
          <a:noFill/>
        </p:spPr>
        <p:txBody>
          <a:bodyPr wrap="square" lIns="0" rIns="0" tIns="0" bIns="0" anchor="t">
            <a:spAutoFit/>
          </a:bodyPr>
          <a:lstStyle/>
          <a:p>
            <a:pPr algn="l"/>
            <a:r>
              <a:rPr sz="2200" b="1" i="0">
                <a:solidFill>
                  <a:srgbClr val="E54242"/>
                </a:solidFill>
                <a:latin typeface="Helvetica"/>
              </a:rPr>
              <a:t>$53,000 / min</a:t>
            </a:r>
          </a:p>
        </p:txBody>
      </p:sp>
      <p:sp>
        <p:nvSpPr>
          <p:cNvPr id="25" name="TextBox 24"/>
          <p:cNvSpPr txBox="1"/>
          <p:nvPr/>
        </p:nvSpPr>
        <p:spPr>
          <a:xfrm>
            <a:off x="6583680" y="2697479"/>
            <a:ext cx="3657600" cy="365760"/>
          </a:xfrm>
          <a:prstGeom prst="rect">
            <a:avLst/>
          </a:prstGeom>
          <a:noFill/>
        </p:spPr>
        <p:txBody>
          <a:bodyPr wrap="square" lIns="0" rIns="0" tIns="0" bIns="0" anchor="t">
            <a:spAutoFit/>
          </a:bodyPr>
          <a:lstStyle/>
          <a:p>
            <a:pPr algn="l"/>
            <a:r>
              <a:rPr sz="1200" b="0" i="0">
                <a:solidFill>
                  <a:srgbClr val="98A49C"/>
                </a:solidFill>
                <a:latin typeface="Helvetica"/>
              </a:rPr>
              <a:t>Maersk NotPetya 2017 ($300M / 14 days)</a:t>
            </a:r>
          </a:p>
        </p:txBody>
      </p:sp>
      <p:sp>
        <p:nvSpPr>
          <p:cNvPr id="26" name="TextBox 25"/>
          <p:cNvSpPr txBox="1"/>
          <p:nvPr/>
        </p:nvSpPr>
        <p:spPr>
          <a:xfrm>
            <a:off x="6583680" y="2971800"/>
            <a:ext cx="4572000" cy="365760"/>
          </a:xfrm>
          <a:prstGeom prst="rect">
            <a:avLst/>
          </a:prstGeom>
          <a:noFill/>
        </p:spPr>
        <p:txBody>
          <a:bodyPr wrap="square" lIns="0" rIns="0" tIns="0" bIns="0" anchor="t">
            <a:spAutoFit/>
          </a:bodyPr>
          <a:lstStyle/>
          <a:p>
            <a:pPr algn="l"/>
            <a:r>
              <a:rPr sz="2200" b="1" i="0">
                <a:solidFill>
                  <a:srgbClr val="E54242"/>
                </a:solidFill>
                <a:latin typeface="Helvetica"/>
              </a:rPr>
              <a:t>$15,000 / min</a:t>
            </a:r>
          </a:p>
        </p:txBody>
      </p:sp>
      <p:sp>
        <p:nvSpPr>
          <p:cNvPr id="27" name="TextBox 26"/>
          <p:cNvSpPr txBox="1"/>
          <p:nvPr/>
        </p:nvSpPr>
        <p:spPr>
          <a:xfrm>
            <a:off x="6583680" y="3291839"/>
            <a:ext cx="3657600" cy="365760"/>
          </a:xfrm>
          <a:prstGeom prst="rect">
            <a:avLst/>
          </a:prstGeom>
          <a:noFill/>
        </p:spPr>
        <p:txBody>
          <a:bodyPr wrap="square" lIns="0" rIns="0" tIns="0" bIns="0" anchor="t">
            <a:spAutoFit/>
          </a:bodyPr>
          <a:lstStyle/>
          <a:p>
            <a:pPr algn="l"/>
            <a:r>
              <a:rPr sz="1200" b="0" i="0">
                <a:solidFill>
                  <a:srgbClr val="98A49C"/>
                </a:solidFill>
                <a:latin typeface="Helvetica"/>
              </a:rPr>
              <a:t>MGM Resorts 2023 (SEC disclosure)</a:t>
            </a:r>
          </a:p>
        </p:txBody>
      </p:sp>
      <p:sp>
        <p:nvSpPr>
          <p:cNvPr id="28" name="TextBox 27"/>
          <p:cNvSpPr txBox="1"/>
          <p:nvPr/>
        </p:nvSpPr>
        <p:spPr>
          <a:xfrm>
            <a:off x="6583680" y="3566160"/>
            <a:ext cx="4572000" cy="365760"/>
          </a:xfrm>
          <a:prstGeom prst="rect">
            <a:avLst/>
          </a:prstGeom>
          <a:noFill/>
        </p:spPr>
        <p:txBody>
          <a:bodyPr wrap="square" lIns="0" rIns="0" tIns="0" bIns="0" anchor="t">
            <a:spAutoFit/>
          </a:bodyPr>
          <a:lstStyle/>
          <a:p>
            <a:pPr algn="l"/>
            <a:r>
              <a:rPr sz="2200" b="1" i="0">
                <a:solidFill>
                  <a:srgbClr val="E54242"/>
                </a:solidFill>
                <a:latin typeface="Helvetica"/>
              </a:rPr>
              <a:t>$7,000 / min</a:t>
            </a:r>
          </a:p>
        </p:txBody>
      </p:sp>
      <p:sp>
        <p:nvSpPr>
          <p:cNvPr id="29" name="TextBox 28"/>
          <p:cNvSpPr txBox="1"/>
          <p:nvPr/>
        </p:nvSpPr>
        <p:spPr>
          <a:xfrm>
            <a:off x="6583680" y="3886200"/>
            <a:ext cx="3657600" cy="365760"/>
          </a:xfrm>
          <a:prstGeom prst="rect">
            <a:avLst/>
          </a:prstGeom>
          <a:noFill/>
        </p:spPr>
        <p:txBody>
          <a:bodyPr wrap="square" lIns="0" rIns="0" tIns="0" bIns="0" anchor="t">
            <a:spAutoFit/>
          </a:bodyPr>
          <a:lstStyle/>
          <a:p>
            <a:pPr algn="l"/>
            <a:r>
              <a:rPr sz="1200" b="0" i="0">
                <a:solidFill>
                  <a:srgbClr val="98A49C"/>
                </a:solidFill>
                <a:latin typeface="Helvetica"/>
              </a:rPr>
              <a:t>Demo-3 B (conservative FAIR model)</a:t>
            </a:r>
          </a:p>
        </p:txBody>
      </p:sp>
      <p:sp>
        <p:nvSpPr>
          <p:cNvPr id="30" name="TextBox 29"/>
          <p:cNvSpPr txBox="1"/>
          <p:nvPr/>
        </p:nvSpPr>
        <p:spPr>
          <a:xfrm>
            <a:off x="6583680" y="4160520"/>
            <a:ext cx="4572000" cy="365760"/>
          </a:xfrm>
          <a:prstGeom prst="rect">
            <a:avLst/>
          </a:prstGeom>
          <a:noFill/>
        </p:spPr>
        <p:txBody>
          <a:bodyPr wrap="square" lIns="0" rIns="0" tIns="0" bIns="0" anchor="t">
            <a:spAutoFit/>
          </a:bodyPr>
          <a:lstStyle/>
          <a:p>
            <a:pPr algn="l"/>
            <a:r>
              <a:rPr sz="2200" b="1" i="0">
                <a:solidFill>
                  <a:srgbClr val="3BD67A"/>
                </a:solidFill>
                <a:latin typeface="Helvetica"/>
              </a:rPr>
              <a:t>$5,000 / min</a:t>
            </a:r>
          </a:p>
        </p:txBody>
      </p:sp>
      <p:sp>
        <p:nvSpPr>
          <p:cNvPr id="31" name="TextBox 30"/>
          <p:cNvSpPr txBox="1"/>
          <p:nvPr/>
        </p:nvSpPr>
        <p:spPr>
          <a:xfrm>
            <a:off x="640080" y="5212080"/>
            <a:ext cx="10972800" cy="731520"/>
          </a:xfrm>
          <a:prstGeom prst="rect">
            <a:avLst/>
          </a:prstGeom>
          <a:noFill/>
        </p:spPr>
        <p:txBody>
          <a:bodyPr wrap="square" lIns="0" rIns="0" tIns="0" bIns="0" anchor="t">
            <a:spAutoFit/>
          </a:bodyPr>
          <a:lstStyle/>
          <a:p>
            <a:pPr algn="ctr"/>
            <a:r>
              <a:rPr sz="1800" b="0" i="1">
                <a:solidFill>
                  <a:srgbClr val="3BD67A"/>
                </a:solidFill>
                <a:latin typeface="Helvetica"/>
              </a:rPr>
              <a:t>"The FAIR model predicts. The breach data confirms."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V — Vulnerability Velocity: 30 seconds</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The time between foothold and total compromise</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TextBox 6"/>
          <p:cNvSpPr txBox="1"/>
          <p:nvPr/>
        </p:nvSpPr>
        <p:spPr>
          <a:xfrm>
            <a:off x="640080" y="1554480"/>
            <a:ext cx="10972800" cy="365760"/>
          </a:xfrm>
          <a:prstGeom prst="rect">
            <a:avLst/>
          </a:prstGeom>
          <a:noFill/>
        </p:spPr>
        <p:txBody>
          <a:bodyPr wrap="square" lIns="0" rIns="0" tIns="0" bIns="0" anchor="t">
            <a:spAutoFit/>
          </a:bodyPr>
          <a:lstStyle/>
          <a:p>
            <a:pPr algn="l"/>
            <a:r>
              <a:rPr sz="1300" b="1" i="0">
                <a:solidFill>
                  <a:srgbClr val="3BD67A"/>
                </a:solidFill>
                <a:latin typeface="Helvetica"/>
              </a:rPr>
              <a:t>CROWDSTRIKE GLOBAL THREAT REPORT 2024</a:t>
            </a:r>
          </a:p>
        </p:txBody>
      </p:sp>
      <p:sp>
        <p:nvSpPr>
          <p:cNvPr id="8" name="Rectangle 7"/>
          <p:cNvSpPr/>
          <p:nvPr/>
        </p:nvSpPr>
        <p:spPr>
          <a:xfrm>
            <a:off x="640080" y="2103120"/>
            <a:ext cx="2286000" cy="777240"/>
          </a:xfrm>
          <a:prstGeom prst="rect">
            <a:avLst/>
          </a:prstGeom>
          <a:solidFill>
            <a:srgbClr val="0F1F17"/>
          </a:solidFill>
          <a:ln w="12700">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2286000" cy="640080"/>
          </a:xfrm>
          <a:prstGeom prst="rect">
            <a:avLst/>
          </a:prstGeom>
          <a:noFill/>
        </p:spPr>
        <p:txBody>
          <a:bodyPr wrap="square" lIns="0" rIns="0" tIns="0" bIns="0" anchor="t">
            <a:spAutoFit/>
          </a:bodyPr>
          <a:lstStyle/>
          <a:p>
            <a:pPr algn="ctr"/>
            <a:r>
              <a:rPr sz="2600" b="1" i="0">
                <a:solidFill>
                  <a:srgbClr val="F4B437"/>
                </a:solidFill>
                <a:latin typeface="Helvetica"/>
              </a:rPr>
              <a:t>2m 07s</a:t>
            </a:r>
          </a:p>
        </p:txBody>
      </p:sp>
      <p:sp>
        <p:nvSpPr>
          <p:cNvPr id="10" name="TextBox 9"/>
          <p:cNvSpPr txBox="1"/>
          <p:nvPr/>
        </p:nvSpPr>
        <p:spPr>
          <a:xfrm>
            <a:off x="3108960" y="2194560"/>
            <a:ext cx="8229600" cy="640080"/>
          </a:xfrm>
          <a:prstGeom prst="rect">
            <a:avLst/>
          </a:prstGeom>
          <a:noFill/>
        </p:spPr>
        <p:txBody>
          <a:bodyPr wrap="square" lIns="0" rIns="0" tIns="0" bIns="0" anchor="t">
            <a:spAutoFit/>
          </a:bodyPr>
          <a:lstStyle/>
          <a:p>
            <a:pPr algn="l"/>
            <a:r>
              <a:rPr sz="1600" b="0" i="0">
                <a:solidFill>
                  <a:srgbClr val="E8F0EA"/>
                </a:solidFill>
                <a:latin typeface="Helvetica"/>
              </a:rPr>
              <a:t>Fastest recorded breakout time</a:t>
            </a:r>
          </a:p>
        </p:txBody>
      </p:sp>
      <p:sp>
        <p:nvSpPr>
          <p:cNvPr id="11" name="Rectangle 10"/>
          <p:cNvSpPr/>
          <p:nvPr/>
        </p:nvSpPr>
        <p:spPr>
          <a:xfrm>
            <a:off x="640080" y="3017520"/>
            <a:ext cx="2286000" cy="777240"/>
          </a:xfrm>
          <a:prstGeom prst="rect">
            <a:avLst/>
          </a:prstGeom>
          <a:solidFill>
            <a:srgbClr val="0F1F17"/>
          </a:solidFill>
          <a:ln w="12700">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108960"/>
            <a:ext cx="2286000" cy="640080"/>
          </a:xfrm>
          <a:prstGeom prst="rect">
            <a:avLst/>
          </a:prstGeom>
          <a:noFill/>
        </p:spPr>
        <p:txBody>
          <a:bodyPr wrap="square" lIns="0" rIns="0" tIns="0" bIns="0" anchor="t">
            <a:spAutoFit/>
          </a:bodyPr>
          <a:lstStyle/>
          <a:p>
            <a:pPr algn="ctr"/>
            <a:r>
              <a:rPr sz="2600" b="1" i="0">
                <a:solidFill>
                  <a:srgbClr val="F4B437"/>
                </a:solidFill>
                <a:latin typeface="Helvetica"/>
              </a:rPr>
              <a:t>62 min</a:t>
            </a:r>
          </a:p>
        </p:txBody>
      </p:sp>
      <p:sp>
        <p:nvSpPr>
          <p:cNvPr id="13" name="TextBox 12"/>
          <p:cNvSpPr txBox="1"/>
          <p:nvPr/>
        </p:nvSpPr>
        <p:spPr>
          <a:xfrm>
            <a:off x="3108960" y="3108960"/>
            <a:ext cx="8229600" cy="640080"/>
          </a:xfrm>
          <a:prstGeom prst="rect">
            <a:avLst/>
          </a:prstGeom>
          <a:noFill/>
        </p:spPr>
        <p:txBody>
          <a:bodyPr wrap="square" lIns="0" rIns="0" tIns="0" bIns="0" anchor="t">
            <a:spAutoFit/>
          </a:bodyPr>
          <a:lstStyle/>
          <a:p>
            <a:pPr algn="l"/>
            <a:r>
              <a:rPr sz="1600" b="0" i="0">
                <a:solidFill>
                  <a:srgbClr val="E8F0EA"/>
                </a:solidFill>
                <a:latin typeface="Helvetica"/>
              </a:rPr>
              <a:t>Average eCrime breakout (down from 84 min)</a:t>
            </a:r>
          </a:p>
        </p:txBody>
      </p:sp>
      <p:sp>
        <p:nvSpPr>
          <p:cNvPr id="14" name="Rectangle 13"/>
          <p:cNvSpPr/>
          <p:nvPr/>
        </p:nvSpPr>
        <p:spPr>
          <a:xfrm>
            <a:off x="640080" y="3931920"/>
            <a:ext cx="2286000" cy="777240"/>
          </a:xfrm>
          <a:prstGeom prst="rect">
            <a:avLst/>
          </a:prstGeom>
          <a:solidFill>
            <a:srgbClr val="0F1F17"/>
          </a:solidFill>
          <a:ln w="12700">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2286000" cy="640080"/>
          </a:xfrm>
          <a:prstGeom prst="rect">
            <a:avLst/>
          </a:prstGeom>
          <a:noFill/>
        </p:spPr>
        <p:txBody>
          <a:bodyPr wrap="square" lIns="0" rIns="0" tIns="0" bIns="0" anchor="t">
            <a:spAutoFit/>
          </a:bodyPr>
          <a:lstStyle/>
          <a:p>
            <a:pPr algn="ctr"/>
            <a:r>
              <a:rPr sz="2600" b="1" i="0">
                <a:solidFill>
                  <a:srgbClr val="E54242"/>
                </a:solidFill>
                <a:latin typeface="Helvetica"/>
              </a:rPr>
              <a:t>30 sec</a:t>
            </a:r>
          </a:p>
        </p:txBody>
      </p:sp>
      <p:sp>
        <p:nvSpPr>
          <p:cNvPr id="16" name="TextBox 15"/>
          <p:cNvSpPr txBox="1"/>
          <p:nvPr/>
        </p:nvSpPr>
        <p:spPr>
          <a:xfrm>
            <a:off x="3108960" y="4023360"/>
            <a:ext cx="8229600" cy="640080"/>
          </a:xfrm>
          <a:prstGeom prst="rect">
            <a:avLst/>
          </a:prstGeom>
          <a:noFill/>
        </p:spPr>
        <p:txBody>
          <a:bodyPr wrap="square" lIns="0" rIns="0" tIns="0" bIns="0" anchor="t">
            <a:spAutoFit/>
          </a:bodyPr>
          <a:lstStyle/>
          <a:p>
            <a:pPr algn="l"/>
            <a:r>
              <a:rPr sz="1600" b="0" i="0">
                <a:solidFill>
                  <a:srgbClr val="E8F0EA"/>
                </a:solidFill>
                <a:latin typeface="Helvetica"/>
              </a:rPr>
              <a:t>Demo-3 measured, conservative</a:t>
            </a:r>
          </a:p>
        </p:txBody>
      </p:sp>
      <p:sp>
        <p:nvSpPr>
          <p:cNvPr id="17" name="Rectangle 16"/>
          <p:cNvSpPr/>
          <p:nvPr/>
        </p:nvSpPr>
        <p:spPr>
          <a:xfrm>
            <a:off x="640080" y="4846320"/>
            <a:ext cx="2286000" cy="777240"/>
          </a:xfrm>
          <a:prstGeom prst="rect">
            <a:avLst/>
          </a:prstGeom>
          <a:solidFill>
            <a:srgbClr val="0F1F17"/>
          </a:solidFill>
          <a:ln w="12700">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937760"/>
            <a:ext cx="2286000" cy="640080"/>
          </a:xfrm>
          <a:prstGeom prst="rect">
            <a:avLst/>
          </a:prstGeom>
          <a:noFill/>
        </p:spPr>
        <p:txBody>
          <a:bodyPr wrap="square" lIns="0" rIns="0" tIns="0" bIns="0" anchor="t">
            <a:spAutoFit/>
          </a:bodyPr>
          <a:lstStyle/>
          <a:p>
            <a:pPr algn="ctr"/>
            <a:r>
              <a:rPr sz="2600" b="1" i="0">
                <a:solidFill>
                  <a:srgbClr val="E54242"/>
                </a:solidFill>
                <a:latin typeface="Helvetica"/>
              </a:rPr>
              <a:t>&lt; 10s</a:t>
            </a:r>
          </a:p>
        </p:txBody>
      </p:sp>
      <p:sp>
        <p:nvSpPr>
          <p:cNvPr id="19" name="TextBox 18"/>
          <p:cNvSpPr txBox="1"/>
          <p:nvPr/>
        </p:nvSpPr>
        <p:spPr>
          <a:xfrm>
            <a:off x="3108960" y="4937760"/>
            <a:ext cx="8229600" cy="640080"/>
          </a:xfrm>
          <a:prstGeom prst="rect">
            <a:avLst/>
          </a:prstGeom>
          <a:noFill/>
        </p:spPr>
        <p:txBody>
          <a:bodyPr wrap="square" lIns="0" rIns="0" tIns="0" bIns="0" anchor="t">
            <a:spAutoFit/>
          </a:bodyPr>
          <a:lstStyle/>
          <a:p>
            <a:pPr algn="l"/>
            <a:r>
              <a:rPr sz="1600" b="0" i="0">
                <a:solidFill>
                  <a:srgbClr val="E8F0EA"/>
                </a:solidFill>
                <a:latin typeface="Helvetica"/>
              </a:rPr>
              <a:t>AI-assisted, automated (2025-26 projection)</a:t>
            </a:r>
          </a:p>
        </p:txBody>
      </p:sp>
      <p:sp>
        <p:nvSpPr>
          <p:cNvPr id="20" name="TextBox 19"/>
          <p:cNvSpPr txBox="1"/>
          <p:nvPr/>
        </p:nvSpPr>
        <p:spPr>
          <a:xfrm>
            <a:off x="640080" y="6126480"/>
            <a:ext cx="10972800" cy="457200"/>
          </a:xfrm>
          <a:prstGeom prst="rect">
            <a:avLst/>
          </a:prstGeom>
          <a:noFill/>
        </p:spPr>
        <p:txBody>
          <a:bodyPr wrap="square" lIns="0" rIns="0" tIns="0" bIns="0" anchor="t">
            <a:spAutoFit/>
          </a:bodyPr>
          <a:lstStyle/>
          <a:p>
            <a:pPr algn="ctr"/>
            <a:r>
              <a:rPr sz="1600" b="0" i="1">
                <a:solidFill>
                  <a:srgbClr val="E54242"/>
                </a:solidFill>
                <a:latin typeface="Helvetica"/>
              </a:rPr>
              <a:t>V is getting smaller every year. Your SOC's MTTR is not.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R — Recovery Runway: Per Tier, Measured</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Not an SLA. Not a target. The actual clock between 'failure confirmed' and 'HTTP 200'.</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Rectangle 6"/>
          <p:cNvSpPr/>
          <p:nvPr/>
        </p:nvSpPr>
        <p:spPr>
          <a:xfrm>
            <a:off x="640080" y="1645920"/>
            <a:ext cx="3657600" cy="3566160"/>
          </a:xfrm>
          <a:prstGeom prst="rect">
            <a:avLst/>
          </a:prstGeom>
          <a:solidFill>
            <a:srgbClr val="0F1F17"/>
          </a:solidFill>
          <a:ln w="1270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3657600" cy="457200"/>
          </a:xfrm>
          <a:prstGeom prst="rect">
            <a:avLst/>
          </a:prstGeom>
          <a:noFill/>
        </p:spPr>
        <p:txBody>
          <a:bodyPr wrap="square" lIns="0" rIns="0" tIns="0" bIns="0" anchor="t">
            <a:spAutoFit/>
          </a:bodyPr>
          <a:lstStyle/>
          <a:p>
            <a:pPr algn="ctr"/>
            <a:r>
              <a:rPr sz="2200" b="1" i="0">
                <a:solidFill>
                  <a:srgbClr val="3BD67A"/>
                </a:solidFill>
                <a:latin typeface="Helvetica"/>
              </a:rPr>
              <a:t>R₁ WEB</a:t>
            </a:r>
          </a:p>
        </p:txBody>
      </p:sp>
      <p:sp>
        <p:nvSpPr>
          <p:cNvPr id="9" name="TextBox 8"/>
          <p:cNvSpPr txBox="1"/>
          <p:nvPr/>
        </p:nvSpPr>
        <p:spPr>
          <a:xfrm>
            <a:off x="640080" y="2331720"/>
            <a:ext cx="3657600" cy="1097280"/>
          </a:xfrm>
          <a:prstGeom prst="rect">
            <a:avLst/>
          </a:prstGeom>
          <a:noFill/>
        </p:spPr>
        <p:txBody>
          <a:bodyPr wrap="square" lIns="0" rIns="0" tIns="0" bIns="0" anchor="t">
            <a:spAutoFit/>
          </a:bodyPr>
          <a:lstStyle/>
          <a:p>
            <a:pPr algn="ctr"/>
            <a:r>
              <a:rPr sz="5800" b="1" i="0">
                <a:solidFill>
                  <a:srgbClr val="E8F0EA"/>
                </a:solidFill>
                <a:latin typeface="Helvetica"/>
              </a:rPr>
              <a:t>0.63s</a:t>
            </a:r>
          </a:p>
        </p:txBody>
      </p:sp>
      <p:sp>
        <p:nvSpPr>
          <p:cNvPr id="10" name="TextBox 9"/>
          <p:cNvSpPr txBox="1"/>
          <p:nvPr/>
        </p:nvSpPr>
        <p:spPr>
          <a:xfrm>
            <a:off x="640080" y="3520440"/>
            <a:ext cx="3657600" cy="457200"/>
          </a:xfrm>
          <a:prstGeom prst="rect">
            <a:avLst/>
          </a:prstGeom>
          <a:noFill/>
        </p:spPr>
        <p:txBody>
          <a:bodyPr wrap="square" lIns="0" rIns="0" tIns="0" bIns="0" anchor="t">
            <a:spAutoFit/>
          </a:bodyPr>
          <a:lstStyle/>
          <a:p>
            <a:pPr algn="ctr"/>
            <a:r>
              <a:rPr sz="1500" b="1" i="0">
                <a:solidFill>
                  <a:srgbClr val="3BD67A"/>
                </a:solidFill>
                <a:latin typeface="Helvetica"/>
              </a:rPr>
              <a:t>Immutable respawn</a:t>
            </a:r>
          </a:p>
        </p:txBody>
      </p:sp>
      <p:sp>
        <p:nvSpPr>
          <p:cNvPr id="11" name="TextBox 10"/>
          <p:cNvSpPr txBox="1"/>
          <p:nvPr/>
        </p:nvSpPr>
        <p:spPr>
          <a:xfrm>
            <a:off x="640080" y="4023360"/>
            <a:ext cx="3657600" cy="1097280"/>
          </a:xfrm>
          <a:prstGeom prst="rect">
            <a:avLst/>
          </a:prstGeom>
          <a:noFill/>
        </p:spPr>
        <p:txBody>
          <a:bodyPr wrap="square" lIns="0" rIns="0" tIns="0" bIns="0" anchor="t">
            <a:spAutoFit/>
          </a:bodyPr>
          <a:lstStyle/>
          <a:p>
            <a:pPr algn="ctr"/>
            <a:r>
              <a:rPr sz="1200" b="0" i="1">
                <a:solidFill>
                  <a:srgbClr val="98A49C"/>
                </a:solidFill>
                <a:latin typeface="Helvetica"/>
              </a:rPr>
              <a:t>docker rm -f → docker run :golden</a:t>
            </a:r>
          </a:p>
        </p:txBody>
      </p:sp>
      <p:sp>
        <p:nvSpPr>
          <p:cNvPr id="12" name="Rectangle 11"/>
          <p:cNvSpPr/>
          <p:nvPr/>
        </p:nvSpPr>
        <p:spPr>
          <a:xfrm>
            <a:off x="4480560" y="1645920"/>
            <a:ext cx="3657600" cy="3566160"/>
          </a:xfrm>
          <a:prstGeom prst="rect">
            <a:avLst/>
          </a:prstGeom>
          <a:solidFill>
            <a:srgbClr val="0F1F17"/>
          </a:solidFill>
          <a:ln w="12700">
            <a:solidFill>
              <a:srgbClr val="56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828800"/>
            <a:ext cx="3657600" cy="457200"/>
          </a:xfrm>
          <a:prstGeom prst="rect">
            <a:avLst/>
          </a:prstGeom>
          <a:noFill/>
        </p:spPr>
        <p:txBody>
          <a:bodyPr wrap="square" lIns="0" rIns="0" tIns="0" bIns="0" anchor="t">
            <a:spAutoFit/>
          </a:bodyPr>
          <a:lstStyle/>
          <a:p>
            <a:pPr algn="ctr"/>
            <a:r>
              <a:rPr sz="2200" b="1" i="0">
                <a:solidFill>
                  <a:srgbClr val="56A6F0"/>
                </a:solidFill>
                <a:latin typeface="Helvetica"/>
              </a:rPr>
              <a:t>R₂ APP</a:t>
            </a:r>
          </a:p>
        </p:txBody>
      </p:sp>
      <p:sp>
        <p:nvSpPr>
          <p:cNvPr id="14" name="TextBox 13"/>
          <p:cNvSpPr txBox="1"/>
          <p:nvPr/>
        </p:nvSpPr>
        <p:spPr>
          <a:xfrm>
            <a:off x="4480560" y="2331720"/>
            <a:ext cx="3657600" cy="1097280"/>
          </a:xfrm>
          <a:prstGeom prst="rect">
            <a:avLst/>
          </a:prstGeom>
          <a:noFill/>
        </p:spPr>
        <p:txBody>
          <a:bodyPr wrap="square" lIns="0" rIns="0" tIns="0" bIns="0" anchor="t">
            <a:spAutoFit/>
          </a:bodyPr>
          <a:lstStyle/>
          <a:p>
            <a:pPr algn="ctr"/>
            <a:r>
              <a:rPr sz="5800" b="1" i="0">
                <a:solidFill>
                  <a:srgbClr val="E8F0EA"/>
                </a:solidFill>
                <a:latin typeface="Helvetica"/>
              </a:rPr>
              <a:t>0.73s</a:t>
            </a:r>
          </a:p>
        </p:txBody>
      </p:sp>
      <p:sp>
        <p:nvSpPr>
          <p:cNvPr id="15" name="TextBox 14"/>
          <p:cNvSpPr txBox="1"/>
          <p:nvPr/>
        </p:nvSpPr>
        <p:spPr>
          <a:xfrm>
            <a:off x="4480560" y="3520440"/>
            <a:ext cx="3657600" cy="457200"/>
          </a:xfrm>
          <a:prstGeom prst="rect">
            <a:avLst/>
          </a:prstGeom>
          <a:noFill/>
        </p:spPr>
        <p:txBody>
          <a:bodyPr wrap="square" lIns="0" rIns="0" tIns="0" bIns="0" anchor="t">
            <a:spAutoFit/>
          </a:bodyPr>
          <a:lstStyle/>
          <a:p>
            <a:pPr algn="ctr"/>
            <a:r>
              <a:rPr sz="1500" b="1" i="0">
                <a:solidFill>
                  <a:srgbClr val="56A6F0"/>
                </a:solidFill>
                <a:latin typeface="Helvetica"/>
              </a:rPr>
              <a:t>Restart + DB reconnect</a:t>
            </a:r>
          </a:p>
        </p:txBody>
      </p:sp>
      <p:sp>
        <p:nvSpPr>
          <p:cNvPr id="16" name="TextBox 15"/>
          <p:cNvSpPr txBox="1"/>
          <p:nvPr/>
        </p:nvSpPr>
        <p:spPr>
          <a:xfrm>
            <a:off x="4480560" y="4023360"/>
            <a:ext cx="3657600" cy="1097280"/>
          </a:xfrm>
          <a:prstGeom prst="rect">
            <a:avLst/>
          </a:prstGeom>
          <a:noFill/>
        </p:spPr>
        <p:txBody>
          <a:bodyPr wrap="square" lIns="0" rIns="0" tIns="0" bIns="0" anchor="t">
            <a:spAutoFit/>
          </a:bodyPr>
          <a:lstStyle/>
          <a:p>
            <a:pPr algn="ctr"/>
            <a:r>
              <a:rPr sz="1200" b="0" i="1">
                <a:solidFill>
                  <a:srgbClr val="98A49C"/>
                </a:solidFill>
                <a:latin typeface="Helvetica"/>
              </a:rPr>
              <a:t>Sessions lost · Transactions preserved</a:t>
            </a:r>
          </a:p>
        </p:txBody>
      </p:sp>
      <p:sp>
        <p:nvSpPr>
          <p:cNvPr id="17" name="Rectangle 16"/>
          <p:cNvSpPr/>
          <p:nvPr/>
        </p:nvSpPr>
        <p:spPr>
          <a:xfrm>
            <a:off x="8321040" y="1645920"/>
            <a:ext cx="3657600" cy="3566160"/>
          </a:xfrm>
          <a:prstGeom prst="rect">
            <a:avLst/>
          </a:prstGeom>
          <a:solidFill>
            <a:srgbClr val="0F1F17"/>
          </a:solidFill>
          <a:ln w="12700">
            <a:solidFill>
              <a:srgbClr val="A37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828800"/>
            <a:ext cx="3657600" cy="457200"/>
          </a:xfrm>
          <a:prstGeom prst="rect">
            <a:avLst/>
          </a:prstGeom>
          <a:noFill/>
        </p:spPr>
        <p:txBody>
          <a:bodyPr wrap="square" lIns="0" rIns="0" tIns="0" bIns="0" anchor="t">
            <a:spAutoFit/>
          </a:bodyPr>
          <a:lstStyle/>
          <a:p>
            <a:pPr algn="ctr"/>
            <a:r>
              <a:rPr sz="2200" b="1" i="0">
                <a:solidFill>
                  <a:srgbClr val="A37BE8"/>
                </a:solidFill>
                <a:latin typeface="Helvetica"/>
              </a:rPr>
              <a:t>R₃ DB</a:t>
            </a:r>
          </a:p>
        </p:txBody>
      </p:sp>
      <p:sp>
        <p:nvSpPr>
          <p:cNvPr id="19" name="TextBox 18"/>
          <p:cNvSpPr txBox="1"/>
          <p:nvPr/>
        </p:nvSpPr>
        <p:spPr>
          <a:xfrm>
            <a:off x="8321040" y="2331720"/>
            <a:ext cx="3657600" cy="1097280"/>
          </a:xfrm>
          <a:prstGeom prst="rect">
            <a:avLst/>
          </a:prstGeom>
          <a:noFill/>
        </p:spPr>
        <p:txBody>
          <a:bodyPr wrap="square" lIns="0" rIns="0" tIns="0" bIns="0" anchor="t">
            <a:spAutoFit/>
          </a:bodyPr>
          <a:lstStyle/>
          <a:p>
            <a:pPr algn="ctr"/>
            <a:r>
              <a:rPr sz="5800" b="1" i="0">
                <a:solidFill>
                  <a:srgbClr val="E8F0EA"/>
                </a:solidFill>
                <a:latin typeface="Helvetica"/>
              </a:rPr>
              <a:t>12.56s</a:t>
            </a:r>
          </a:p>
        </p:txBody>
      </p:sp>
      <p:sp>
        <p:nvSpPr>
          <p:cNvPr id="20" name="TextBox 19"/>
          <p:cNvSpPr txBox="1"/>
          <p:nvPr/>
        </p:nvSpPr>
        <p:spPr>
          <a:xfrm>
            <a:off x="8321040" y="3520440"/>
            <a:ext cx="3657600" cy="457200"/>
          </a:xfrm>
          <a:prstGeom prst="rect">
            <a:avLst/>
          </a:prstGeom>
          <a:noFill/>
        </p:spPr>
        <p:txBody>
          <a:bodyPr wrap="square" lIns="0" rIns="0" tIns="0" bIns="0" anchor="t">
            <a:spAutoFit/>
          </a:bodyPr>
          <a:lstStyle/>
          <a:p>
            <a:pPr algn="ctr"/>
            <a:r>
              <a:rPr sz="1500" b="1" i="0">
                <a:solidFill>
                  <a:srgbClr val="A37BE8"/>
                </a:solidFill>
                <a:latin typeface="Helvetica"/>
              </a:rPr>
              <a:t>Fence + Resume</a:t>
            </a:r>
          </a:p>
        </p:txBody>
      </p:sp>
      <p:sp>
        <p:nvSpPr>
          <p:cNvPr id="21" name="TextBox 20"/>
          <p:cNvSpPr txBox="1"/>
          <p:nvPr/>
        </p:nvSpPr>
        <p:spPr>
          <a:xfrm>
            <a:off x="8321040" y="4023360"/>
            <a:ext cx="3657600" cy="1097280"/>
          </a:xfrm>
          <a:prstGeom prst="rect">
            <a:avLst/>
          </a:prstGeom>
          <a:noFill/>
        </p:spPr>
        <p:txBody>
          <a:bodyPr wrap="square" lIns="0" rIns="0" tIns="0" bIns="0" anchor="t">
            <a:spAutoFit/>
          </a:bodyPr>
          <a:lstStyle/>
          <a:p>
            <a:pPr algn="ctr"/>
            <a:r>
              <a:rPr sz="1200" b="0" i="1">
                <a:solidFill>
                  <a:srgbClr val="98A49C"/>
                </a:solidFill>
                <a:latin typeface="Helvetica"/>
              </a:rPr>
              <a:t>pg_wal_replay_pause → 10 quiet ticks → resume</a:t>
            </a:r>
          </a:p>
        </p:txBody>
      </p:sp>
      <p:sp>
        <p:nvSpPr>
          <p:cNvPr id="22" name="Rectangle 21"/>
          <p:cNvSpPr/>
          <p:nvPr/>
        </p:nvSpPr>
        <p:spPr>
          <a:xfrm>
            <a:off x="640080" y="5394960"/>
            <a:ext cx="10972800" cy="1005840"/>
          </a:xfrm>
          <a:prstGeom prst="rect">
            <a:avLst/>
          </a:prstGeom>
          <a:solidFill>
            <a:srgbClr val="0F1F17"/>
          </a:solidFill>
          <a:ln w="2540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486400"/>
            <a:ext cx="5029200" cy="411480"/>
          </a:xfrm>
          <a:prstGeom prst="rect">
            <a:avLst/>
          </a:prstGeom>
          <a:noFill/>
        </p:spPr>
        <p:txBody>
          <a:bodyPr wrap="square" lIns="0" rIns="0" tIns="0" bIns="0" anchor="t">
            <a:spAutoFit/>
          </a:bodyPr>
          <a:lstStyle/>
          <a:p>
            <a:pPr algn="l"/>
            <a:r>
              <a:rPr sz="1400" b="0" i="0">
                <a:solidFill>
                  <a:srgbClr val="98A49C"/>
                </a:solidFill>
                <a:latin typeface="Helvetica"/>
              </a:rPr>
              <a:t>R (avg per attack)</a:t>
            </a:r>
          </a:p>
        </p:txBody>
      </p:sp>
      <p:sp>
        <p:nvSpPr>
          <p:cNvPr id="24" name="TextBox 23"/>
          <p:cNvSpPr txBox="1"/>
          <p:nvPr/>
        </p:nvSpPr>
        <p:spPr>
          <a:xfrm>
            <a:off x="822960" y="5806440"/>
            <a:ext cx="5029200" cy="594360"/>
          </a:xfrm>
          <a:prstGeom prst="rect">
            <a:avLst/>
          </a:prstGeom>
          <a:noFill/>
        </p:spPr>
        <p:txBody>
          <a:bodyPr wrap="square" lIns="0" rIns="0" tIns="0" bIns="0" anchor="t">
            <a:spAutoFit/>
          </a:bodyPr>
          <a:lstStyle/>
          <a:p>
            <a:pPr algn="l"/>
            <a:r>
              <a:rPr sz="3000" b="1" i="0">
                <a:solidFill>
                  <a:srgbClr val="3BD67A"/>
                </a:solidFill>
                <a:latin typeface="Helvetica"/>
              </a:rPr>
              <a:t>4.6 seconds</a:t>
            </a:r>
          </a:p>
        </p:txBody>
      </p:sp>
      <p:sp>
        <p:nvSpPr>
          <p:cNvPr id="25" name="TextBox 24"/>
          <p:cNvSpPr txBox="1"/>
          <p:nvPr/>
        </p:nvSpPr>
        <p:spPr>
          <a:xfrm>
            <a:off x="6400800" y="5486400"/>
            <a:ext cx="5029200" cy="411480"/>
          </a:xfrm>
          <a:prstGeom prst="rect">
            <a:avLst/>
          </a:prstGeom>
          <a:noFill/>
        </p:spPr>
        <p:txBody>
          <a:bodyPr wrap="square" lIns="0" rIns="0" tIns="0" bIns="0" anchor="t">
            <a:spAutoFit/>
          </a:bodyPr>
          <a:lstStyle/>
          <a:p>
            <a:pPr algn="r"/>
            <a:r>
              <a:rPr sz="1400" b="0" i="0">
                <a:solidFill>
                  <a:srgbClr val="98A49C"/>
                </a:solidFill>
                <a:latin typeface="Helvetica"/>
              </a:rPr>
              <a:t>Verdict: R &lt; V ?</a:t>
            </a:r>
          </a:p>
        </p:txBody>
      </p:sp>
      <p:sp>
        <p:nvSpPr>
          <p:cNvPr id="26" name="TextBox 25"/>
          <p:cNvSpPr txBox="1"/>
          <p:nvPr/>
        </p:nvSpPr>
        <p:spPr>
          <a:xfrm>
            <a:off x="6400800" y="5806440"/>
            <a:ext cx="5029200" cy="594360"/>
          </a:xfrm>
          <a:prstGeom prst="rect">
            <a:avLst/>
          </a:prstGeom>
          <a:noFill/>
        </p:spPr>
        <p:txBody>
          <a:bodyPr wrap="square" lIns="0" rIns="0" tIns="0" bIns="0" anchor="t">
            <a:spAutoFit/>
          </a:bodyPr>
          <a:lstStyle/>
          <a:p>
            <a:pPr algn="r"/>
            <a:r>
              <a:rPr sz="3000" b="1" i="0">
                <a:solidFill>
                  <a:srgbClr val="3BD67A"/>
                </a:solidFill>
                <a:latin typeface="Helvetica"/>
              </a:rPr>
              <a:t>✓  WIN  (6.5× margin)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Why Demo-3?</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Demo-2 proved the pattern on one tier. Attackers don't pick the easy case.</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Rectangle 6"/>
          <p:cNvSpPr/>
          <p:nvPr/>
        </p:nvSpPr>
        <p:spPr>
          <a:xfrm>
            <a:off x="640080" y="1554480"/>
            <a:ext cx="2743200" cy="530352"/>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54480"/>
            <a:ext cx="2743200" cy="530352"/>
          </a:xfrm>
          <a:prstGeom prst="rect">
            <a:avLst/>
          </a:prstGeom>
          <a:noFill/>
        </p:spPr>
        <p:txBody>
          <a:bodyPr wrap="square" lIns="0" rIns="0" tIns="0" bIns="0" anchor="ctr">
            <a:spAutoFit/>
          </a:bodyPr>
          <a:lstStyle/>
          <a:p>
            <a:pPr algn="l"/>
            <a:r>
              <a:rPr sz="1400" b="1" i="0">
                <a:solidFill>
                  <a:srgbClr val="0A1510"/>
                </a:solidFill>
                <a:latin typeface="Helvetica"/>
              </a:rPr>
              <a:t> Dimension</a:t>
            </a:r>
          </a:p>
        </p:txBody>
      </p:sp>
      <p:sp>
        <p:nvSpPr>
          <p:cNvPr id="9" name="Rectangle 8"/>
          <p:cNvSpPr/>
          <p:nvPr/>
        </p:nvSpPr>
        <p:spPr>
          <a:xfrm>
            <a:off x="3383280" y="1554480"/>
            <a:ext cx="4114800" cy="530352"/>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554480"/>
            <a:ext cx="4114800" cy="530352"/>
          </a:xfrm>
          <a:prstGeom prst="rect">
            <a:avLst/>
          </a:prstGeom>
          <a:noFill/>
        </p:spPr>
        <p:txBody>
          <a:bodyPr wrap="square" lIns="0" rIns="0" tIns="0" bIns="0" anchor="ctr">
            <a:spAutoFit/>
          </a:bodyPr>
          <a:lstStyle/>
          <a:p>
            <a:pPr algn="l"/>
            <a:r>
              <a:rPr sz="1400" b="1" i="0">
                <a:solidFill>
                  <a:srgbClr val="0A1510"/>
                </a:solidFill>
                <a:latin typeface="Helvetica"/>
              </a:rPr>
              <a:t> Demo-2 (last year)</a:t>
            </a:r>
          </a:p>
        </p:txBody>
      </p:sp>
      <p:sp>
        <p:nvSpPr>
          <p:cNvPr id="11" name="Rectangle 10"/>
          <p:cNvSpPr/>
          <p:nvPr/>
        </p:nvSpPr>
        <p:spPr>
          <a:xfrm>
            <a:off x="7498079" y="1554480"/>
            <a:ext cx="4389120" cy="530352"/>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554480"/>
            <a:ext cx="4389120" cy="530352"/>
          </a:xfrm>
          <a:prstGeom prst="rect">
            <a:avLst/>
          </a:prstGeom>
          <a:noFill/>
        </p:spPr>
        <p:txBody>
          <a:bodyPr wrap="square" lIns="0" rIns="0" tIns="0" bIns="0" anchor="ctr">
            <a:spAutoFit/>
          </a:bodyPr>
          <a:lstStyle/>
          <a:p>
            <a:pPr algn="l"/>
            <a:r>
              <a:rPr sz="1400" b="1" i="0">
                <a:solidFill>
                  <a:srgbClr val="0A1510"/>
                </a:solidFill>
                <a:latin typeface="Helvetica"/>
              </a:rPr>
              <a:t> Demo-3 (today)</a:t>
            </a:r>
          </a:p>
        </p:txBody>
      </p:sp>
      <p:sp>
        <p:nvSpPr>
          <p:cNvPr id="13" name="Rectangle 12"/>
          <p:cNvSpPr/>
          <p:nvPr/>
        </p:nvSpPr>
        <p:spPr>
          <a:xfrm>
            <a:off x="640080" y="2084831"/>
            <a:ext cx="2743200" cy="530352"/>
          </a:xfrm>
          <a:prstGeom prst="rect">
            <a:avLst/>
          </a:prstGeom>
          <a:solidFill>
            <a:srgbClr val="0F1F17"/>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084831"/>
            <a:ext cx="2743200" cy="530352"/>
          </a:xfrm>
          <a:prstGeom prst="rect">
            <a:avLst/>
          </a:prstGeom>
          <a:noFill/>
        </p:spPr>
        <p:txBody>
          <a:bodyPr wrap="square" lIns="0" rIns="0" tIns="0" bIns="0" anchor="ctr">
            <a:spAutoFit/>
          </a:bodyPr>
          <a:lstStyle/>
          <a:p>
            <a:pPr algn="l"/>
            <a:r>
              <a:rPr sz="1200" b="0" i="0">
                <a:solidFill>
                  <a:srgbClr val="E8F0EA"/>
                </a:solidFill>
                <a:latin typeface="Helvetica"/>
              </a:rPr>
              <a:t> Containers</a:t>
            </a:r>
          </a:p>
        </p:txBody>
      </p:sp>
      <p:sp>
        <p:nvSpPr>
          <p:cNvPr id="15" name="Rectangle 14"/>
          <p:cNvSpPr/>
          <p:nvPr/>
        </p:nvSpPr>
        <p:spPr>
          <a:xfrm>
            <a:off x="3383280" y="2084831"/>
            <a:ext cx="4114800" cy="530352"/>
          </a:xfrm>
          <a:prstGeom prst="rect">
            <a:avLst/>
          </a:prstGeom>
          <a:solidFill>
            <a:srgbClr val="0F1F17"/>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2084831"/>
            <a:ext cx="4114800" cy="530352"/>
          </a:xfrm>
          <a:prstGeom prst="rect">
            <a:avLst/>
          </a:prstGeom>
          <a:noFill/>
        </p:spPr>
        <p:txBody>
          <a:bodyPr wrap="square" lIns="0" rIns="0" tIns="0" bIns="0" anchor="ctr">
            <a:spAutoFit/>
          </a:bodyPr>
          <a:lstStyle/>
          <a:p>
            <a:pPr algn="l"/>
            <a:r>
              <a:rPr sz="1200" b="0" i="0">
                <a:solidFill>
                  <a:srgbClr val="E8F0EA"/>
                </a:solidFill>
                <a:latin typeface="Helvetica"/>
              </a:rPr>
              <a:t> 1 — nginx</a:t>
            </a:r>
          </a:p>
        </p:txBody>
      </p:sp>
      <p:sp>
        <p:nvSpPr>
          <p:cNvPr id="17" name="Rectangle 16"/>
          <p:cNvSpPr/>
          <p:nvPr/>
        </p:nvSpPr>
        <p:spPr>
          <a:xfrm>
            <a:off x="7498079" y="2084831"/>
            <a:ext cx="4389120" cy="530352"/>
          </a:xfrm>
          <a:prstGeom prst="rect">
            <a:avLst/>
          </a:prstGeom>
          <a:solidFill>
            <a:srgbClr val="0F1F17"/>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79" y="2084831"/>
            <a:ext cx="4389120" cy="530352"/>
          </a:xfrm>
          <a:prstGeom prst="rect">
            <a:avLst/>
          </a:prstGeom>
          <a:noFill/>
        </p:spPr>
        <p:txBody>
          <a:bodyPr wrap="square" lIns="0" rIns="0" tIns="0" bIns="0" anchor="ctr">
            <a:spAutoFit/>
          </a:bodyPr>
          <a:lstStyle/>
          <a:p>
            <a:pPr algn="l"/>
            <a:r>
              <a:rPr sz="1200" b="0" i="0">
                <a:solidFill>
                  <a:srgbClr val="E8F0EA"/>
                </a:solidFill>
                <a:latin typeface="Helvetica"/>
              </a:rPr>
              <a:t> 5 — web, app, db-primary, db-replica, waf</a:t>
            </a:r>
          </a:p>
        </p:txBody>
      </p:sp>
      <p:sp>
        <p:nvSpPr>
          <p:cNvPr id="19" name="Rectangle 18"/>
          <p:cNvSpPr/>
          <p:nvPr/>
        </p:nvSpPr>
        <p:spPr>
          <a:xfrm>
            <a:off x="640080" y="2615184"/>
            <a:ext cx="2743200" cy="530352"/>
          </a:xfrm>
          <a:prstGeom prst="rect">
            <a:avLst/>
          </a:prstGeom>
          <a:solidFill>
            <a:srgbClr val="0A1510"/>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615184"/>
            <a:ext cx="2743200" cy="530352"/>
          </a:xfrm>
          <a:prstGeom prst="rect">
            <a:avLst/>
          </a:prstGeom>
          <a:noFill/>
        </p:spPr>
        <p:txBody>
          <a:bodyPr wrap="square" lIns="0" rIns="0" tIns="0" bIns="0" anchor="ctr">
            <a:spAutoFit/>
          </a:bodyPr>
          <a:lstStyle/>
          <a:p>
            <a:pPr algn="l"/>
            <a:r>
              <a:rPr sz="1200" b="0" i="0">
                <a:solidFill>
                  <a:srgbClr val="E8F0EA"/>
                </a:solidFill>
                <a:latin typeface="Helvetica"/>
              </a:rPr>
              <a:t> State surface</a:t>
            </a:r>
          </a:p>
        </p:txBody>
      </p:sp>
      <p:sp>
        <p:nvSpPr>
          <p:cNvPr id="21" name="Rectangle 20"/>
          <p:cNvSpPr/>
          <p:nvPr/>
        </p:nvSpPr>
        <p:spPr>
          <a:xfrm>
            <a:off x="3383280" y="2615184"/>
            <a:ext cx="4114800" cy="530352"/>
          </a:xfrm>
          <a:prstGeom prst="rect">
            <a:avLst/>
          </a:prstGeom>
          <a:solidFill>
            <a:srgbClr val="0A1510"/>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83280" y="2615184"/>
            <a:ext cx="4114800" cy="530352"/>
          </a:xfrm>
          <a:prstGeom prst="rect">
            <a:avLst/>
          </a:prstGeom>
          <a:noFill/>
        </p:spPr>
        <p:txBody>
          <a:bodyPr wrap="square" lIns="0" rIns="0" tIns="0" bIns="0" anchor="ctr">
            <a:spAutoFit/>
          </a:bodyPr>
          <a:lstStyle/>
          <a:p>
            <a:pPr algn="l"/>
            <a:r>
              <a:rPr sz="1200" b="0" i="0">
                <a:solidFill>
                  <a:srgbClr val="E8F0EA"/>
                </a:solidFill>
                <a:latin typeface="Helvetica"/>
              </a:rPr>
              <a:t> None</a:t>
            </a:r>
          </a:p>
        </p:txBody>
      </p:sp>
      <p:sp>
        <p:nvSpPr>
          <p:cNvPr id="23" name="Rectangle 22"/>
          <p:cNvSpPr/>
          <p:nvPr/>
        </p:nvSpPr>
        <p:spPr>
          <a:xfrm>
            <a:off x="7498079" y="2615184"/>
            <a:ext cx="4389120" cy="530352"/>
          </a:xfrm>
          <a:prstGeom prst="rect">
            <a:avLst/>
          </a:prstGeom>
          <a:solidFill>
            <a:srgbClr val="0A1510"/>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79" y="2615184"/>
            <a:ext cx="4389120" cy="530352"/>
          </a:xfrm>
          <a:prstGeom prst="rect">
            <a:avLst/>
          </a:prstGeom>
          <a:noFill/>
        </p:spPr>
        <p:txBody>
          <a:bodyPr wrap="square" lIns="0" rIns="0" tIns="0" bIns="0" anchor="ctr">
            <a:spAutoFit/>
          </a:bodyPr>
          <a:lstStyle/>
          <a:p>
            <a:pPr algn="l"/>
            <a:r>
              <a:rPr sz="1200" b="0" i="0">
                <a:solidFill>
                  <a:srgbClr val="E8F0EA"/>
                </a:solidFill>
                <a:latin typeface="Helvetica"/>
              </a:rPr>
              <a:t> In-memory sessions + Postgres WAL</a:t>
            </a:r>
          </a:p>
        </p:txBody>
      </p:sp>
      <p:sp>
        <p:nvSpPr>
          <p:cNvPr id="25" name="Rectangle 24"/>
          <p:cNvSpPr/>
          <p:nvPr/>
        </p:nvSpPr>
        <p:spPr>
          <a:xfrm>
            <a:off x="640080" y="3145535"/>
            <a:ext cx="2743200" cy="530352"/>
          </a:xfrm>
          <a:prstGeom prst="rect">
            <a:avLst/>
          </a:prstGeom>
          <a:solidFill>
            <a:srgbClr val="0F1F17"/>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145535"/>
            <a:ext cx="2743200" cy="530352"/>
          </a:xfrm>
          <a:prstGeom prst="rect">
            <a:avLst/>
          </a:prstGeom>
          <a:noFill/>
        </p:spPr>
        <p:txBody>
          <a:bodyPr wrap="square" lIns="0" rIns="0" tIns="0" bIns="0" anchor="ctr">
            <a:spAutoFit/>
          </a:bodyPr>
          <a:lstStyle/>
          <a:p>
            <a:pPr algn="l"/>
            <a:r>
              <a:rPr sz="1200" b="0" i="0">
                <a:solidFill>
                  <a:srgbClr val="E8F0EA"/>
                </a:solidFill>
                <a:latin typeface="Helvetica"/>
              </a:rPr>
              <a:t> Recovery patterns</a:t>
            </a:r>
          </a:p>
        </p:txBody>
      </p:sp>
      <p:sp>
        <p:nvSpPr>
          <p:cNvPr id="27" name="Rectangle 26"/>
          <p:cNvSpPr/>
          <p:nvPr/>
        </p:nvSpPr>
        <p:spPr>
          <a:xfrm>
            <a:off x="3383280" y="3145535"/>
            <a:ext cx="4114800" cy="530352"/>
          </a:xfrm>
          <a:prstGeom prst="rect">
            <a:avLst/>
          </a:prstGeom>
          <a:solidFill>
            <a:srgbClr val="0F1F17"/>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80" y="3145535"/>
            <a:ext cx="4114800" cy="530352"/>
          </a:xfrm>
          <a:prstGeom prst="rect">
            <a:avLst/>
          </a:prstGeom>
          <a:noFill/>
        </p:spPr>
        <p:txBody>
          <a:bodyPr wrap="square" lIns="0" rIns="0" tIns="0" bIns="0" anchor="ctr">
            <a:spAutoFit/>
          </a:bodyPr>
          <a:lstStyle/>
          <a:p>
            <a:pPr algn="l"/>
            <a:r>
              <a:rPr sz="1200" b="0" i="0">
                <a:solidFill>
                  <a:srgbClr val="E8F0EA"/>
                </a:solidFill>
                <a:latin typeface="Helvetica"/>
              </a:rPr>
              <a:t> Respawn from golden image</a:t>
            </a:r>
          </a:p>
        </p:txBody>
      </p:sp>
      <p:sp>
        <p:nvSpPr>
          <p:cNvPr id="29" name="Rectangle 28"/>
          <p:cNvSpPr/>
          <p:nvPr/>
        </p:nvSpPr>
        <p:spPr>
          <a:xfrm>
            <a:off x="7498079" y="3145535"/>
            <a:ext cx="4389120" cy="530352"/>
          </a:xfrm>
          <a:prstGeom prst="rect">
            <a:avLst/>
          </a:prstGeom>
          <a:solidFill>
            <a:srgbClr val="0F1F17"/>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79" y="3145535"/>
            <a:ext cx="4389120" cy="530352"/>
          </a:xfrm>
          <a:prstGeom prst="rect">
            <a:avLst/>
          </a:prstGeom>
          <a:noFill/>
        </p:spPr>
        <p:txBody>
          <a:bodyPr wrap="square" lIns="0" rIns="0" tIns="0" bIns="0" anchor="ctr">
            <a:spAutoFit/>
          </a:bodyPr>
          <a:lstStyle/>
          <a:p>
            <a:pPr algn="l"/>
            <a:r>
              <a:rPr sz="1200" b="0" i="0">
                <a:solidFill>
                  <a:srgbClr val="E8F0EA"/>
                </a:solidFill>
                <a:latin typeface="Helvetica"/>
              </a:rPr>
              <a:t> Respawn + fence/resume + in-flight block</a:t>
            </a:r>
          </a:p>
        </p:txBody>
      </p:sp>
      <p:sp>
        <p:nvSpPr>
          <p:cNvPr id="31" name="Rectangle 30"/>
          <p:cNvSpPr/>
          <p:nvPr/>
        </p:nvSpPr>
        <p:spPr>
          <a:xfrm>
            <a:off x="640080" y="3675887"/>
            <a:ext cx="2743200" cy="530352"/>
          </a:xfrm>
          <a:prstGeom prst="rect">
            <a:avLst/>
          </a:prstGeom>
          <a:solidFill>
            <a:srgbClr val="0A1510"/>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675887"/>
            <a:ext cx="2743200" cy="530352"/>
          </a:xfrm>
          <a:prstGeom prst="rect">
            <a:avLst/>
          </a:prstGeom>
          <a:noFill/>
        </p:spPr>
        <p:txBody>
          <a:bodyPr wrap="square" lIns="0" rIns="0" tIns="0" bIns="0" anchor="ctr">
            <a:spAutoFit/>
          </a:bodyPr>
          <a:lstStyle/>
          <a:p>
            <a:pPr algn="l"/>
            <a:r>
              <a:rPr sz="1200" b="0" i="0">
                <a:solidFill>
                  <a:srgbClr val="E8F0EA"/>
                </a:solidFill>
                <a:latin typeface="Helvetica"/>
              </a:rPr>
              <a:t> Attack types</a:t>
            </a:r>
          </a:p>
        </p:txBody>
      </p:sp>
      <p:sp>
        <p:nvSpPr>
          <p:cNvPr id="33" name="Rectangle 32"/>
          <p:cNvSpPr/>
          <p:nvPr/>
        </p:nvSpPr>
        <p:spPr>
          <a:xfrm>
            <a:off x="3383280" y="3675887"/>
            <a:ext cx="4114800" cy="530352"/>
          </a:xfrm>
          <a:prstGeom prst="rect">
            <a:avLst/>
          </a:prstGeom>
          <a:solidFill>
            <a:srgbClr val="0A1510"/>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83280" y="3675887"/>
            <a:ext cx="4114800" cy="530352"/>
          </a:xfrm>
          <a:prstGeom prst="rect">
            <a:avLst/>
          </a:prstGeom>
          <a:noFill/>
        </p:spPr>
        <p:txBody>
          <a:bodyPr wrap="square" lIns="0" rIns="0" tIns="0" bIns="0" anchor="ctr">
            <a:spAutoFit/>
          </a:bodyPr>
          <a:lstStyle/>
          <a:p>
            <a:pPr algn="l"/>
            <a:r>
              <a:rPr sz="1200" b="0" i="0">
                <a:solidFill>
                  <a:srgbClr val="E8F0EA"/>
                </a:solidFill>
                <a:latin typeface="Helvetica"/>
              </a:rPr>
              <a:t> 1 — rm -rf web root</a:t>
            </a:r>
          </a:p>
        </p:txBody>
      </p:sp>
      <p:sp>
        <p:nvSpPr>
          <p:cNvPr id="35" name="Rectangle 34"/>
          <p:cNvSpPr/>
          <p:nvPr/>
        </p:nvSpPr>
        <p:spPr>
          <a:xfrm>
            <a:off x="7498079" y="3675887"/>
            <a:ext cx="4389120" cy="530352"/>
          </a:xfrm>
          <a:prstGeom prst="rect">
            <a:avLst/>
          </a:prstGeom>
          <a:solidFill>
            <a:srgbClr val="0A1510"/>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79" y="3675887"/>
            <a:ext cx="4389120" cy="530352"/>
          </a:xfrm>
          <a:prstGeom prst="rect">
            <a:avLst/>
          </a:prstGeom>
          <a:noFill/>
        </p:spPr>
        <p:txBody>
          <a:bodyPr wrap="square" lIns="0" rIns="0" tIns="0" bIns="0" anchor="ctr">
            <a:spAutoFit/>
          </a:bodyPr>
          <a:lstStyle/>
          <a:p>
            <a:pPr algn="l"/>
            <a:r>
              <a:rPr sz="1200" b="0" i="0">
                <a:solidFill>
                  <a:srgbClr val="E8F0EA"/>
                </a:solidFill>
                <a:latin typeface="Helvetica"/>
              </a:rPr>
              <a:t> 4 — wipeout, kill, ransomware, curl campaign</a:t>
            </a:r>
          </a:p>
        </p:txBody>
      </p:sp>
      <p:sp>
        <p:nvSpPr>
          <p:cNvPr id="37" name="Rectangle 36"/>
          <p:cNvSpPr/>
          <p:nvPr/>
        </p:nvSpPr>
        <p:spPr>
          <a:xfrm>
            <a:off x="640080" y="4206240"/>
            <a:ext cx="2743200" cy="530352"/>
          </a:xfrm>
          <a:prstGeom prst="rect">
            <a:avLst/>
          </a:prstGeom>
          <a:solidFill>
            <a:srgbClr val="0F1F17"/>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206240"/>
            <a:ext cx="2743200" cy="530352"/>
          </a:xfrm>
          <a:prstGeom prst="rect">
            <a:avLst/>
          </a:prstGeom>
          <a:noFill/>
        </p:spPr>
        <p:txBody>
          <a:bodyPr wrap="square" lIns="0" rIns="0" tIns="0" bIns="0" anchor="ctr">
            <a:spAutoFit/>
          </a:bodyPr>
          <a:lstStyle/>
          <a:p>
            <a:pPr algn="l"/>
            <a:r>
              <a:rPr sz="1200" b="0" i="0">
                <a:solidFill>
                  <a:srgbClr val="E8F0EA"/>
                </a:solidFill>
                <a:latin typeface="Helvetica"/>
              </a:rPr>
              <a:t> Tiers proven</a:t>
            </a:r>
          </a:p>
        </p:txBody>
      </p:sp>
      <p:sp>
        <p:nvSpPr>
          <p:cNvPr id="39" name="Rectangle 38"/>
          <p:cNvSpPr/>
          <p:nvPr/>
        </p:nvSpPr>
        <p:spPr>
          <a:xfrm>
            <a:off x="3383280" y="4206240"/>
            <a:ext cx="4114800" cy="530352"/>
          </a:xfrm>
          <a:prstGeom prst="rect">
            <a:avLst/>
          </a:prstGeom>
          <a:solidFill>
            <a:srgbClr val="0F1F17"/>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83280" y="4206240"/>
            <a:ext cx="4114800" cy="530352"/>
          </a:xfrm>
          <a:prstGeom prst="rect">
            <a:avLst/>
          </a:prstGeom>
          <a:noFill/>
        </p:spPr>
        <p:txBody>
          <a:bodyPr wrap="square" lIns="0" rIns="0" tIns="0" bIns="0" anchor="ctr">
            <a:spAutoFit/>
          </a:bodyPr>
          <a:lstStyle/>
          <a:p>
            <a:pPr algn="l"/>
            <a:r>
              <a:rPr sz="1200" b="0" i="0">
                <a:solidFill>
                  <a:srgbClr val="E8F0EA"/>
                </a:solidFill>
                <a:latin typeface="Helvetica"/>
              </a:rPr>
              <a:t> Stateless</a:t>
            </a:r>
          </a:p>
        </p:txBody>
      </p:sp>
      <p:sp>
        <p:nvSpPr>
          <p:cNvPr id="41" name="Rectangle 40"/>
          <p:cNvSpPr/>
          <p:nvPr/>
        </p:nvSpPr>
        <p:spPr>
          <a:xfrm>
            <a:off x="7498079" y="4206240"/>
            <a:ext cx="4389120" cy="530352"/>
          </a:xfrm>
          <a:prstGeom prst="rect">
            <a:avLst/>
          </a:prstGeom>
          <a:solidFill>
            <a:srgbClr val="0F1F17"/>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79" y="4206240"/>
            <a:ext cx="4389120" cy="530352"/>
          </a:xfrm>
          <a:prstGeom prst="rect">
            <a:avLst/>
          </a:prstGeom>
          <a:noFill/>
        </p:spPr>
        <p:txBody>
          <a:bodyPr wrap="square" lIns="0" rIns="0" tIns="0" bIns="0" anchor="ctr">
            <a:spAutoFit/>
          </a:bodyPr>
          <a:lstStyle/>
          <a:p>
            <a:pPr algn="l"/>
            <a:r>
              <a:rPr sz="1200" b="0" i="0">
                <a:solidFill>
                  <a:srgbClr val="E8F0EA"/>
                </a:solidFill>
                <a:latin typeface="Helvetica"/>
              </a:rPr>
              <a:t> Stateless + Stateful + Data</a:t>
            </a:r>
          </a:p>
        </p:txBody>
      </p:sp>
      <p:sp>
        <p:nvSpPr>
          <p:cNvPr id="43" name="Rectangle 42"/>
          <p:cNvSpPr/>
          <p:nvPr/>
        </p:nvSpPr>
        <p:spPr>
          <a:xfrm>
            <a:off x="640080" y="4736592"/>
            <a:ext cx="2743200" cy="530352"/>
          </a:xfrm>
          <a:prstGeom prst="rect">
            <a:avLst/>
          </a:prstGeom>
          <a:solidFill>
            <a:srgbClr val="0A1510"/>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736592"/>
            <a:ext cx="2743200" cy="530352"/>
          </a:xfrm>
          <a:prstGeom prst="rect">
            <a:avLst/>
          </a:prstGeom>
          <a:noFill/>
        </p:spPr>
        <p:txBody>
          <a:bodyPr wrap="square" lIns="0" rIns="0" tIns="0" bIns="0" anchor="ctr">
            <a:spAutoFit/>
          </a:bodyPr>
          <a:lstStyle/>
          <a:p>
            <a:pPr algn="l"/>
            <a:r>
              <a:rPr sz="1200" b="0" i="0">
                <a:solidFill>
                  <a:srgbClr val="E8F0EA"/>
                </a:solidFill>
                <a:latin typeface="Helvetica"/>
              </a:rPr>
              <a:t> MTTR measurement</a:t>
            </a:r>
          </a:p>
        </p:txBody>
      </p:sp>
      <p:sp>
        <p:nvSpPr>
          <p:cNvPr id="45" name="Rectangle 44"/>
          <p:cNvSpPr/>
          <p:nvPr/>
        </p:nvSpPr>
        <p:spPr>
          <a:xfrm>
            <a:off x="3383280" y="4736592"/>
            <a:ext cx="4114800" cy="530352"/>
          </a:xfrm>
          <a:prstGeom prst="rect">
            <a:avLst/>
          </a:prstGeom>
          <a:solidFill>
            <a:srgbClr val="0A1510"/>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83280" y="4736592"/>
            <a:ext cx="4114800" cy="530352"/>
          </a:xfrm>
          <a:prstGeom prst="rect">
            <a:avLst/>
          </a:prstGeom>
          <a:noFill/>
        </p:spPr>
        <p:txBody>
          <a:bodyPr wrap="square" lIns="0" rIns="0" tIns="0" bIns="0" anchor="ctr">
            <a:spAutoFit/>
          </a:bodyPr>
          <a:lstStyle/>
          <a:p>
            <a:pPr algn="l"/>
            <a:r>
              <a:rPr sz="1200" b="0" i="0">
                <a:solidFill>
                  <a:srgbClr val="E8F0EA"/>
                </a:solidFill>
                <a:latin typeface="Helvetica"/>
              </a:rPr>
              <a:t> Single number (~2s)</a:t>
            </a:r>
          </a:p>
        </p:txBody>
      </p:sp>
      <p:sp>
        <p:nvSpPr>
          <p:cNvPr id="47" name="Rectangle 46"/>
          <p:cNvSpPr/>
          <p:nvPr/>
        </p:nvSpPr>
        <p:spPr>
          <a:xfrm>
            <a:off x="7498079" y="4736592"/>
            <a:ext cx="4389120" cy="530352"/>
          </a:xfrm>
          <a:prstGeom prst="rect">
            <a:avLst/>
          </a:prstGeom>
          <a:solidFill>
            <a:srgbClr val="0A1510"/>
          </a:solidFill>
          <a:ln w="3175">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98079" y="4736592"/>
            <a:ext cx="4389120" cy="530352"/>
          </a:xfrm>
          <a:prstGeom prst="rect">
            <a:avLst/>
          </a:prstGeom>
          <a:noFill/>
        </p:spPr>
        <p:txBody>
          <a:bodyPr wrap="square" lIns="0" rIns="0" tIns="0" bIns="0" anchor="ctr">
            <a:spAutoFit/>
          </a:bodyPr>
          <a:lstStyle/>
          <a:p>
            <a:pPr algn="l"/>
            <a:r>
              <a:rPr sz="1200" b="0" i="0">
                <a:solidFill>
                  <a:srgbClr val="E8F0EA"/>
                </a:solidFill>
                <a:latin typeface="Helvetica"/>
              </a:rPr>
              <a:t> R₁=0.63s · R₂=0.73s · R₃=12.56s · avg 4.6s</a:t>
            </a:r>
          </a:p>
        </p:txBody>
      </p:sp>
      <p:sp>
        <p:nvSpPr>
          <p:cNvPr id="49" name="TextBox 48"/>
          <p:cNvSpPr txBox="1"/>
          <p:nvPr/>
        </p:nvSpPr>
        <p:spPr>
          <a:xfrm>
            <a:off x="640080" y="5943600"/>
            <a:ext cx="10972800" cy="457200"/>
          </a:xfrm>
          <a:prstGeom prst="rect">
            <a:avLst/>
          </a:prstGeom>
          <a:noFill/>
        </p:spPr>
        <p:txBody>
          <a:bodyPr wrap="square" lIns="0" rIns="0" tIns="0" bIns="0" anchor="t">
            <a:spAutoFit/>
          </a:bodyPr>
          <a:lstStyle/>
          <a:p>
            <a:pPr algn="ctr"/>
            <a:r>
              <a:rPr sz="1800" b="0" i="1">
                <a:solidFill>
                  <a:srgbClr val="3BD67A"/>
                </a:solidFill>
                <a:latin typeface="Helvetica"/>
              </a:rPr>
              <a:t>The thesis doesn't change. The surface area does.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The Demo-3 Stack</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Five real Docker containers · isolated network · measured end-to-end</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Rectangle 6"/>
          <p:cNvSpPr/>
          <p:nvPr/>
        </p:nvSpPr>
        <p:spPr>
          <a:xfrm>
            <a:off x="457200" y="1645920"/>
            <a:ext cx="1828800" cy="1005840"/>
          </a:xfrm>
          <a:prstGeom prst="rect">
            <a:avLst/>
          </a:prstGeom>
          <a:solidFill>
            <a:srgbClr val="0F1F17"/>
          </a:solidFill>
          <a:ln w="19050">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37360"/>
            <a:ext cx="1828800" cy="365760"/>
          </a:xfrm>
          <a:prstGeom prst="rect">
            <a:avLst/>
          </a:prstGeom>
          <a:noFill/>
        </p:spPr>
        <p:txBody>
          <a:bodyPr wrap="square" lIns="0" rIns="0" tIns="0" bIns="0" anchor="t">
            <a:spAutoFit/>
          </a:bodyPr>
          <a:lstStyle/>
          <a:p>
            <a:pPr algn="ctr"/>
            <a:r>
              <a:rPr sz="1300" b="1" i="0">
                <a:solidFill>
                  <a:srgbClr val="E54242"/>
                </a:solidFill>
                <a:latin typeface="Helvetica"/>
              </a:rPr>
              <a:t>ATTACKER</a:t>
            </a:r>
          </a:p>
        </p:txBody>
      </p:sp>
      <p:sp>
        <p:nvSpPr>
          <p:cNvPr id="9" name="TextBox 8"/>
          <p:cNvSpPr txBox="1"/>
          <p:nvPr/>
        </p:nvSpPr>
        <p:spPr>
          <a:xfrm>
            <a:off x="457200" y="2103120"/>
            <a:ext cx="1828800" cy="457200"/>
          </a:xfrm>
          <a:prstGeom prst="rect">
            <a:avLst/>
          </a:prstGeom>
          <a:noFill/>
        </p:spPr>
        <p:txBody>
          <a:bodyPr wrap="square" lIns="0" rIns="0" tIns="0" bIns="0" anchor="t">
            <a:spAutoFit/>
          </a:bodyPr>
          <a:lstStyle/>
          <a:p>
            <a:pPr algn="ctr"/>
            <a:r>
              <a:rPr sz="1000" b="0" i="1">
                <a:solidFill>
                  <a:srgbClr val="98A49C"/>
                </a:solidFill>
                <a:latin typeface="Helvetica"/>
              </a:rPr>
              <a:t>:8090 entry</a:t>
            </a:r>
          </a:p>
        </p:txBody>
      </p:sp>
      <p:sp>
        <p:nvSpPr>
          <p:cNvPr id="10" name="Rectangle 9"/>
          <p:cNvSpPr/>
          <p:nvPr/>
        </p:nvSpPr>
        <p:spPr>
          <a:xfrm>
            <a:off x="2651760" y="1645920"/>
            <a:ext cx="1828800" cy="1005840"/>
          </a:xfrm>
          <a:prstGeom prst="rect">
            <a:avLst/>
          </a:prstGeom>
          <a:solidFill>
            <a:srgbClr val="0F1F17"/>
          </a:solidFill>
          <a:ln w="19050">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0" y="1737360"/>
            <a:ext cx="1828800" cy="365760"/>
          </a:xfrm>
          <a:prstGeom prst="rect">
            <a:avLst/>
          </a:prstGeom>
          <a:noFill/>
        </p:spPr>
        <p:txBody>
          <a:bodyPr wrap="square" lIns="0" rIns="0" tIns="0" bIns="0" anchor="t">
            <a:spAutoFit/>
          </a:bodyPr>
          <a:lstStyle/>
          <a:p>
            <a:pPr algn="ctr"/>
            <a:r>
              <a:rPr sz="1300" b="1" i="0">
                <a:solidFill>
                  <a:srgbClr val="F4B437"/>
                </a:solidFill>
                <a:latin typeface="Helvetica"/>
              </a:rPr>
              <a:t>WAF</a:t>
            </a:r>
          </a:p>
        </p:txBody>
      </p:sp>
      <p:sp>
        <p:nvSpPr>
          <p:cNvPr id="12" name="TextBox 11"/>
          <p:cNvSpPr txBox="1"/>
          <p:nvPr/>
        </p:nvSpPr>
        <p:spPr>
          <a:xfrm>
            <a:off x="2651760" y="2103120"/>
            <a:ext cx="1828800" cy="457200"/>
          </a:xfrm>
          <a:prstGeom prst="rect">
            <a:avLst/>
          </a:prstGeom>
          <a:noFill/>
        </p:spPr>
        <p:txBody>
          <a:bodyPr wrap="square" lIns="0" rIns="0" tIns="0" bIns="0" anchor="t">
            <a:spAutoFit/>
          </a:bodyPr>
          <a:lstStyle/>
          <a:p>
            <a:pPr algn="ctr"/>
            <a:r>
              <a:rPr sz="1000" b="0" i="1">
                <a:solidFill>
                  <a:srgbClr val="98A49C"/>
                </a:solidFill>
                <a:latin typeface="Helvetica"/>
              </a:rPr>
              <a:t>ModSecurity</a:t>
            </a:r>
          </a:p>
          <a:p>
            <a:pPr algn="ctr"/>
            <a:r>
              <a:rPr sz="1000" b="0" i="1">
                <a:solidFill>
                  <a:srgbClr val="98A49C"/>
                </a:solidFill>
                <a:latin typeface="Helvetica"/>
              </a:rPr>
              <a:t>CRS</a:t>
            </a:r>
          </a:p>
        </p:txBody>
      </p:sp>
      <p:sp>
        <p:nvSpPr>
          <p:cNvPr id="13" name="Rectangle 12"/>
          <p:cNvSpPr/>
          <p:nvPr/>
        </p:nvSpPr>
        <p:spPr>
          <a:xfrm>
            <a:off x="4846320" y="1645920"/>
            <a:ext cx="1828800" cy="1005840"/>
          </a:xfrm>
          <a:prstGeom prst="rect">
            <a:avLst/>
          </a:prstGeom>
          <a:solidFill>
            <a:srgbClr val="0F1F17"/>
          </a:solidFill>
          <a:ln w="1905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1737360"/>
            <a:ext cx="1828800" cy="365760"/>
          </a:xfrm>
          <a:prstGeom prst="rect">
            <a:avLst/>
          </a:prstGeom>
          <a:noFill/>
        </p:spPr>
        <p:txBody>
          <a:bodyPr wrap="square" lIns="0" rIns="0" tIns="0" bIns="0" anchor="t">
            <a:spAutoFit/>
          </a:bodyPr>
          <a:lstStyle/>
          <a:p>
            <a:pPr algn="ctr"/>
            <a:r>
              <a:rPr sz="1300" b="1" i="0">
                <a:solidFill>
                  <a:srgbClr val="3BD67A"/>
                </a:solidFill>
                <a:latin typeface="Helvetica"/>
              </a:rPr>
              <a:t>WEB</a:t>
            </a:r>
          </a:p>
        </p:txBody>
      </p:sp>
      <p:sp>
        <p:nvSpPr>
          <p:cNvPr id="15" name="TextBox 14"/>
          <p:cNvSpPr txBox="1"/>
          <p:nvPr/>
        </p:nvSpPr>
        <p:spPr>
          <a:xfrm>
            <a:off x="4846320" y="2103120"/>
            <a:ext cx="1828800" cy="457200"/>
          </a:xfrm>
          <a:prstGeom prst="rect">
            <a:avLst/>
          </a:prstGeom>
          <a:noFill/>
        </p:spPr>
        <p:txBody>
          <a:bodyPr wrap="square" lIns="0" rIns="0" tIns="0" bIns="0" anchor="t">
            <a:spAutoFit/>
          </a:bodyPr>
          <a:lstStyle/>
          <a:p>
            <a:pPr algn="ctr"/>
            <a:r>
              <a:rPr sz="1000" b="0" i="1">
                <a:solidFill>
                  <a:srgbClr val="98A49C"/>
                </a:solidFill>
                <a:latin typeface="Helvetica"/>
              </a:rPr>
              <a:t>nginx:alpine</a:t>
            </a:r>
          </a:p>
          <a:p>
            <a:pPr algn="ctr"/>
            <a:r>
              <a:rPr sz="1000" b="0" i="1">
                <a:solidFill>
                  <a:srgbClr val="98A49C"/>
                </a:solidFill>
                <a:latin typeface="Helvetica"/>
              </a:rPr>
              <a:t>:9091</a:t>
            </a:r>
          </a:p>
        </p:txBody>
      </p:sp>
      <p:sp>
        <p:nvSpPr>
          <p:cNvPr id="16" name="Rectangle 15"/>
          <p:cNvSpPr/>
          <p:nvPr/>
        </p:nvSpPr>
        <p:spPr>
          <a:xfrm>
            <a:off x="7040880" y="1645920"/>
            <a:ext cx="1828800" cy="1005840"/>
          </a:xfrm>
          <a:prstGeom prst="rect">
            <a:avLst/>
          </a:prstGeom>
          <a:solidFill>
            <a:srgbClr val="0F1F17"/>
          </a:solidFill>
          <a:ln w="19050">
            <a:solidFill>
              <a:srgbClr val="56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1737360"/>
            <a:ext cx="1828800" cy="365760"/>
          </a:xfrm>
          <a:prstGeom prst="rect">
            <a:avLst/>
          </a:prstGeom>
          <a:noFill/>
        </p:spPr>
        <p:txBody>
          <a:bodyPr wrap="square" lIns="0" rIns="0" tIns="0" bIns="0" anchor="t">
            <a:spAutoFit/>
          </a:bodyPr>
          <a:lstStyle/>
          <a:p>
            <a:pPr algn="ctr"/>
            <a:r>
              <a:rPr sz="1300" b="1" i="0">
                <a:solidFill>
                  <a:srgbClr val="56A6F0"/>
                </a:solidFill>
                <a:latin typeface="Helvetica"/>
              </a:rPr>
              <a:t>APP</a:t>
            </a:r>
          </a:p>
        </p:txBody>
      </p:sp>
      <p:sp>
        <p:nvSpPr>
          <p:cNvPr id="18" name="TextBox 17"/>
          <p:cNvSpPr txBox="1"/>
          <p:nvPr/>
        </p:nvSpPr>
        <p:spPr>
          <a:xfrm>
            <a:off x="7040880" y="2103120"/>
            <a:ext cx="1828800" cy="457200"/>
          </a:xfrm>
          <a:prstGeom prst="rect">
            <a:avLst/>
          </a:prstGeom>
          <a:noFill/>
        </p:spPr>
        <p:txBody>
          <a:bodyPr wrap="square" lIns="0" rIns="0" tIns="0" bIns="0" anchor="t">
            <a:spAutoFit/>
          </a:bodyPr>
          <a:lstStyle/>
          <a:p>
            <a:pPr algn="ctr"/>
            <a:r>
              <a:rPr sz="1000" b="0" i="1">
                <a:solidFill>
                  <a:srgbClr val="98A49C"/>
                </a:solidFill>
                <a:latin typeface="Helvetica"/>
              </a:rPr>
              <a:t>Flask / psycopg2</a:t>
            </a:r>
          </a:p>
          <a:p>
            <a:pPr algn="ctr"/>
            <a:r>
              <a:rPr sz="1000" b="0" i="1">
                <a:solidFill>
                  <a:srgbClr val="98A49C"/>
                </a:solidFill>
                <a:latin typeface="Helvetica"/>
              </a:rPr>
              <a:t>:3001</a:t>
            </a:r>
          </a:p>
        </p:txBody>
      </p:sp>
      <p:sp>
        <p:nvSpPr>
          <p:cNvPr id="19" name="Rectangle 18"/>
          <p:cNvSpPr/>
          <p:nvPr/>
        </p:nvSpPr>
        <p:spPr>
          <a:xfrm>
            <a:off x="9235440" y="1645920"/>
            <a:ext cx="1828800" cy="1005840"/>
          </a:xfrm>
          <a:prstGeom prst="rect">
            <a:avLst/>
          </a:prstGeom>
          <a:solidFill>
            <a:srgbClr val="0F1F17"/>
          </a:solidFill>
          <a:ln w="19050">
            <a:solidFill>
              <a:srgbClr val="A37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1737360"/>
            <a:ext cx="1828800" cy="365760"/>
          </a:xfrm>
          <a:prstGeom prst="rect">
            <a:avLst/>
          </a:prstGeom>
          <a:noFill/>
        </p:spPr>
        <p:txBody>
          <a:bodyPr wrap="square" lIns="0" rIns="0" tIns="0" bIns="0" anchor="t">
            <a:spAutoFit/>
          </a:bodyPr>
          <a:lstStyle/>
          <a:p>
            <a:pPr algn="ctr"/>
            <a:r>
              <a:rPr sz="1300" b="1" i="0">
                <a:solidFill>
                  <a:srgbClr val="A37BE8"/>
                </a:solidFill>
                <a:latin typeface="Helvetica"/>
              </a:rPr>
              <a:t>DB-PRI</a:t>
            </a:r>
          </a:p>
        </p:txBody>
      </p:sp>
      <p:sp>
        <p:nvSpPr>
          <p:cNvPr id="21" name="TextBox 20"/>
          <p:cNvSpPr txBox="1"/>
          <p:nvPr/>
        </p:nvSpPr>
        <p:spPr>
          <a:xfrm>
            <a:off x="9235440" y="2103120"/>
            <a:ext cx="1828800" cy="457200"/>
          </a:xfrm>
          <a:prstGeom prst="rect">
            <a:avLst/>
          </a:prstGeom>
          <a:noFill/>
        </p:spPr>
        <p:txBody>
          <a:bodyPr wrap="square" lIns="0" rIns="0" tIns="0" bIns="0" anchor="t">
            <a:spAutoFit/>
          </a:bodyPr>
          <a:lstStyle/>
          <a:p>
            <a:pPr algn="ctr"/>
            <a:r>
              <a:rPr sz="1000" b="0" i="1">
                <a:solidFill>
                  <a:srgbClr val="98A49C"/>
                </a:solidFill>
                <a:latin typeface="Helvetica"/>
              </a:rPr>
              <a:t>postgres:15</a:t>
            </a:r>
          </a:p>
          <a:p>
            <a:pPr algn="ctr"/>
            <a:r>
              <a:rPr sz="1000" b="0" i="1">
                <a:solidFill>
                  <a:srgbClr val="98A49C"/>
                </a:solidFill>
                <a:latin typeface="Helvetica"/>
              </a:rPr>
              <a:t>:5432</a:t>
            </a:r>
          </a:p>
        </p:txBody>
      </p:sp>
      <p:sp>
        <p:nvSpPr>
          <p:cNvPr id="22" name="Rectangle 21"/>
          <p:cNvSpPr/>
          <p:nvPr/>
        </p:nvSpPr>
        <p:spPr>
          <a:xfrm>
            <a:off x="9235440" y="3017520"/>
            <a:ext cx="1828800" cy="1005840"/>
          </a:xfrm>
          <a:prstGeom prst="rect">
            <a:avLst/>
          </a:prstGeom>
          <a:solidFill>
            <a:srgbClr val="0F1F17"/>
          </a:solidFill>
          <a:ln w="19050">
            <a:solidFill>
              <a:srgbClr val="A37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3108960"/>
            <a:ext cx="1828800" cy="365760"/>
          </a:xfrm>
          <a:prstGeom prst="rect">
            <a:avLst/>
          </a:prstGeom>
          <a:noFill/>
        </p:spPr>
        <p:txBody>
          <a:bodyPr wrap="square" lIns="0" rIns="0" tIns="0" bIns="0" anchor="t">
            <a:spAutoFit/>
          </a:bodyPr>
          <a:lstStyle/>
          <a:p>
            <a:pPr algn="ctr"/>
            <a:r>
              <a:rPr sz="1300" b="1" i="0">
                <a:solidFill>
                  <a:srgbClr val="A37BE8"/>
                </a:solidFill>
                <a:latin typeface="Helvetica"/>
              </a:rPr>
              <a:t>DB-REP</a:t>
            </a:r>
          </a:p>
        </p:txBody>
      </p:sp>
      <p:sp>
        <p:nvSpPr>
          <p:cNvPr id="24" name="TextBox 23"/>
          <p:cNvSpPr txBox="1"/>
          <p:nvPr/>
        </p:nvSpPr>
        <p:spPr>
          <a:xfrm>
            <a:off x="9235440" y="3474720"/>
            <a:ext cx="1828800" cy="457200"/>
          </a:xfrm>
          <a:prstGeom prst="rect">
            <a:avLst/>
          </a:prstGeom>
          <a:noFill/>
        </p:spPr>
        <p:txBody>
          <a:bodyPr wrap="square" lIns="0" rIns="0" tIns="0" bIns="0" anchor="t">
            <a:spAutoFit/>
          </a:bodyPr>
          <a:lstStyle/>
          <a:p>
            <a:pPr algn="ctr"/>
            <a:r>
              <a:rPr sz="1000" b="0" i="1">
                <a:solidFill>
                  <a:srgbClr val="98A49C"/>
                </a:solidFill>
                <a:latin typeface="Helvetica"/>
              </a:rPr>
              <a:t>postgres:15</a:t>
            </a:r>
          </a:p>
          <a:p>
            <a:pPr algn="ctr"/>
            <a:r>
              <a:rPr sz="1000" b="0" i="1">
                <a:solidFill>
                  <a:srgbClr val="98A49C"/>
                </a:solidFill>
                <a:latin typeface="Helvetica"/>
              </a:rPr>
              <a:t>:5433 streaming</a:t>
            </a:r>
          </a:p>
        </p:txBody>
      </p:sp>
      <p:sp>
        <p:nvSpPr>
          <p:cNvPr id="25" name="Rectangle 24"/>
          <p:cNvSpPr/>
          <p:nvPr/>
        </p:nvSpPr>
        <p:spPr>
          <a:xfrm>
            <a:off x="2286000" y="2084831"/>
            <a:ext cx="365760" cy="45720"/>
          </a:xfrm>
          <a:prstGeom prst="rect">
            <a:avLst/>
          </a:prstGeom>
          <a:solidFill>
            <a:srgbClr val="98A49C"/>
          </a:solidFill>
          <a:ln>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2084831"/>
            <a:ext cx="365760" cy="45720"/>
          </a:xfrm>
          <a:prstGeom prst="rect">
            <a:avLst/>
          </a:prstGeom>
          <a:solidFill>
            <a:srgbClr val="98A49C"/>
          </a:solidFill>
          <a:ln>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675120" y="2084831"/>
            <a:ext cx="365760" cy="45720"/>
          </a:xfrm>
          <a:prstGeom prst="rect">
            <a:avLst/>
          </a:prstGeom>
          <a:solidFill>
            <a:srgbClr val="98A49C"/>
          </a:solidFill>
          <a:ln>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69680" y="2084831"/>
            <a:ext cx="365760" cy="45720"/>
          </a:xfrm>
          <a:prstGeom prst="rect">
            <a:avLst/>
          </a:prstGeom>
          <a:solidFill>
            <a:srgbClr val="98A49C"/>
          </a:solidFill>
          <a:ln>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104120" y="2697480"/>
            <a:ext cx="45720" cy="365760"/>
          </a:xfrm>
          <a:prstGeom prst="rect">
            <a:avLst/>
          </a:prstGeom>
          <a:solidFill>
            <a:srgbClr val="98A49C"/>
          </a:solidFill>
          <a:ln>
            <a:solidFill>
              <a:srgbClr val="98A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87000" y="2697480"/>
            <a:ext cx="1371600" cy="365760"/>
          </a:xfrm>
          <a:prstGeom prst="rect">
            <a:avLst/>
          </a:prstGeom>
          <a:noFill/>
        </p:spPr>
        <p:txBody>
          <a:bodyPr wrap="square" lIns="0" rIns="0" tIns="0" bIns="0" anchor="t">
            <a:spAutoFit/>
          </a:bodyPr>
          <a:lstStyle/>
          <a:p>
            <a:pPr algn="l"/>
            <a:r>
              <a:rPr sz="900" b="0" i="1">
                <a:solidFill>
                  <a:srgbClr val="98A49C"/>
                </a:solidFill>
                <a:latin typeface="Helvetica"/>
              </a:rPr>
              <a:t>WAL</a:t>
            </a:r>
          </a:p>
        </p:txBody>
      </p:sp>
      <p:sp>
        <p:nvSpPr>
          <p:cNvPr id="31" name="Rectangle 30"/>
          <p:cNvSpPr/>
          <p:nvPr/>
        </p:nvSpPr>
        <p:spPr>
          <a:xfrm>
            <a:off x="457200" y="4663440"/>
            <a:ext cx="5303520" cy="1188720"/>
          </a:xfrm>
          <a:prstGeom prst="rect">
            <a:avLst/>
          </a:prstGeom>
          <a:solidFill>
            <a:srgbClr val="0F1F17"/>
          </a:solidFill>
          <a:ln w="1270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754880"/>
            <a:ext cx="5303520" cy="365760"/>
          </a:xfrm>
          <a:prstGeom prst="rect">
            <a:avLst/>
          </a:prstGeom>
          <a:noFill/>
        </p:spPr>
        <p:txBody>
          <a:bodyPr wrap="square" lIns="0" rIns="0" tIns="0" bIns="0" anchor="t">
            <a:spAutoFit/>
          </a:bodyPr>
          <a:lstStyle/>
          <a:p>
            <a:pPr algn="ctr"/>
            <a:r>
              <a:rPr sz="1300" b="1" i="0">
                <a:solidFill>
                  <a:srgbClr val="3BD67A"/>
                </a:solidFill>
                <a:latin typeface="Helvetica"/>
              </a:rPr>
              <a:t>GUARDIAN (host · 1s poll)</a:t>
            </a:r>
          </a:p>
        </p:txBody>
      </p:sp>
      <p:sp>
        <p:nvSpPr>
          <p:cNvPr id="33" name="TextBox 32"/>
          <p:cNvSpPr txBox="1"/>
          <p:nvPr/>
        </p:nvSpPr>
        <p:spPr>
          <a:xfrm>
            <a:off x="457200" y="5166360"/>
            <a:ext cx="5303520" cy="640080"/>
          </a:xfrm>
          <a:prstGeom prst="rect">
            <a:avLst/>
          </a:prstGeom>
          <a:noFill/>
        </p:spPr>
        <p:txBody>
          <a:bodyPr wrap="square" lIns="0" rIns="0" tIns="0" bIns="0" anchor="t">
            <a:spAutoFit/>
          </a:bodyPr>
          <a:lstStyle/>
          <a:p>
            <a:pPr algn="ctr"/>
            <a:r>
              <a:rPr sz="1100" b="0" i="1">
                <a:solidFill>
                  <a:srgbClr val="98A49C"/>
                </a:solidFill>
                <a:latin typeface="Helvetica"/>
              </a:rPr>
              <a:t>Writes structured JSONL events</a:t>
            </a:r>
          </a:p>
          <a:p>
            <a:pPr algn="ctr"/>
            <a:r>
              <a:rPr sz="1100" b="0" i="1">
                <a:solidFill>
                  <a:srgbClr val="98A49C"/>
                </a:solidFill>
                <a:latin typeface="Helvetica"/>
              </a:rPr>
              <a:t>/tmp/demo3_guardian.jsonl</a:t>
            </a:r>
          </a:p>
        </p:txBody>
      </p:sp>
      <p:sp>
        <p:nvSpPr>
          <p:cNvPr id="34" name="Rectangle 33"/>
          <p:cNvSpPr/>
          <p:nvPr/>
        </p:nvSpPr>
        <p:spPr>
          <a:xfrm>
            <a:off x="6400800" y="4663440"/>
            <a:ext cx="5303520" cy="1188720"/>
          </a:xfrm>
          <a:prstGeom prst="rect">
            <a:avLst/>
          </a:prstGeom>
          <a:solidFill>
            <a:srgbClr val="0F1F17"/>
          </a:solidFill>
          <a:ln w="1270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754880"/>
            <a:ext cx="5303520" cy="365760"/>
          </a:xfrm>
          <a:prstGeom prst="rect">
            <a:avLst/>
          </a:prstGeom>
          <a:noFill/>
        </p:spPr>
        <p:txBody>
          <a:bodyPr wrap="square" lIns="0" rIns="0" tIns="0" bIns="0" anchor="t">
            <a:spAutoFit/>
          </a:bodyPr>
          <a:lstStyle/>
          <a:p>
            <a:pPr algn="ctr"/>
            <a:r>
              <a:rPr sz="1300" b="1" i="0">
                <a:solidFill>
                  <a:srgbClr val="3BD67A"/>
                </a:solidFill>
                <a:latin typeface="Helvetica"/>
              </a:rPr>
              <a:t>AI AGENT (:7880)</a:t>
            </a:r>
          </a:p>
        </p:txBody>
      </p:sp>
      <p:sp>
        <p:nvSpPr>
          <p:cNvPr id="36" name="TextBox 35"/>
          <p:cNvSpPr txBox="1"/>
          <p:nvPr/>
        </p:nvSpPr>
        <p:spPr>
          <a:xfrm>
            <a:off x="6400800" y="5166360"/>
            <a:ext cx="5303520" cy="640080"/>
          </a:xfrm>
          <a:prstGeom prst="rect">
            <a:avLst/>
          </a:prstGeom>
          <a:noFill/>
        </p:spPr>
        <p:txBody>
          <a:bodyPr wrap="square" lIns="0" rIns="0" tIns="0" bIns="0" anchor="t">
            <a:spAutoFit/>
          </a:bodyPr>
          <a:lstStyle/>
          <a:p>
            <a:pPr algn="ctr"/>
            <a:r>
              <a:rPr sz="1100" b="0" i="1">
                <a:solidFill>
                  <a:srgbClr val="98A49C"/>
                </a:solidFill>
                <a:latin typeface="Helvetica"/>
              </a:rPr>
              <a:t>Tails JSONL · polls docker stats</a:t>
            </a:r>
          </a:p>
          <a:p>
            <a:pPr algn="ctr"/>
            <a:r>
              <a:rPr sz="1100" b="0" i="1">
                <a:solidFill>
                  <a:srgbClr val="98A49C"/>
                </a:solidFill>
                <a:latin typeface="Helvetica"/>
              </a:rPr>
              <a:t>Serves dashboard + /trigger/*</a:t>
            </a:r>
          </a:p>
        </p:txBody>
      </p:sp>
      <p:sp>
        <p:nvSpPr>
          <p:cNvPr id="37" name="Rectangle 36"/>
          <p:cNvSpPr/>
          <p:nvPr/>
        </p:nvSpPr>
        <p:spPr>
          <a:xfrm>
            <a:off x="3017520" y="5989320"/>
            <a:ext cx="6126480" cy="36576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17520" y="5989320"/>
            <a:ext cx="6126480" cy="365760"/>
          </a:xfrm>
          <a:prstGeom prst="rect">
            <a:avLst/>
          </a:prstGeom>
          <a:noFill/>
        </p:spPr>
        <p:txBody>
          <a:bodyPr wrap="square" lIns="0" rIns="0" tIns="0" bIns="0" anchor="ctr">
            <a:spAutoFit/>
          </a:bodyPr>
          <a:lstStyle/>
          <a:p>
            <a:pPr algn="ctr"/>
            <a:r>
              <a:rPr sz="1300" b="1" i="0">
                <a:solidFill>
                  <a:srgbClr val="0A1510"/>
                </a:solidFill>
                <a:latin typeface="Helvetica"/>
              </a:rPr>
              <a:t>LIVE B-V-R DASHBOARD · http://localhost:7880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E54242"/>
          </a:solidFill>
          <a:ln>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LIVE · Attack 1 — Web Tier Wipeout</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T1485 · rm -rf the web root · watch the respawn</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TextBox 6"/>
          <p:cNvSpPr txBox="1"/>
          <p:nvPr/>
        </p:nvSpPr>
        <p:spPr>
          <a:xfrm>
            <a:off x="640080" y="1554480"/>
            <a:ext cx="10972800" cy="457200"/>
          </a:xfrm>
          <a:prstGeom prst="rect">
            <a:avLst/>
          </a:prstGeom>
          <a:noFill/>
        </p:spPr>
        <p:txBody>
          <a:bodyPr wrap="square" lIns="0" rIns="0" tIns="0" bIns="0" anchor="t">
            <a:spAutoFit/>
          </a:bodyPr>
          <a:lstStyle/>
          <a:p>
            <a:pPr algn="l"/>
            <a:r>
              <a:rPr sz="1300" b="1" i="0">
                <a:solidFill>
                  <a:srgbClr val="3BD67A"/>
                </a:solidFill>
                <a:latin typeface="Helvetica"/>
              </a:rPr>
              <a:t>COMMAND (live)</a:t>
            </a:r>
          </a:p>
        </p:txBody>
      </p:sp>
      <p:sp>
        <p:nvSpPr>
          <p:cNvPr id="8" name="Rectangle 7"/>
          <p:cNvSpPr/>
          <p:nvPr/>
        </p:nvSpPr>
        <p:spPr>
          <a:xfrm>
            <a:off x="640080" y="1920240"/>
            <a:ext cx="10972800" cy="548640"/>
          </a:xfrm>
          <a:prstGeom prst="rect">
            <a:avLst/>
          </a:prstGeom>
          <a:solidFill>
            <a:srgbClr val="0F1F17"/>
          </a:solidFill>
          <a:ln w="12700">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10789920" cy="365760"/>
          </a:xfrm>
          <a:prstGeom prst="rect">
            <a:avLst/>
          </a:prstGeom>
          <a:noFill/>
        </p:spPr>
        <p:txBody>
          <a:bodyPr wrap="square" lIns="0" rIns="0" tIns="0" bIns="0" anchor="ctr">
            <a:spAutoFit/>
          </a:bodyPr>
          <a:lstStyle/>
          <a:p>
            <a:pPr algn="l"/>
            <a:r>
              <a:rPr sz="1600" b="1" i="0">
                <a:solidFill>
                  <a:srgbClr val="3BD67A"/>
                </a:solidFill>
                <a:latin typeface="Menlo"/>
              </a:rPr>
              <a:t>$  ./setup_and_run3.sh attack web</a:t>
            </a:r>
          </a:p>
        </p:txBody>
      </p:sp>
      <p:sp>
        <p:nvSpPr>
          <p:cNvPr id="10" name="TextBox 9"/>
          <p:cNvSpPr txBox="1"/>
          <p:nvPr/>
        </p:nvSpPr>
        <p:spPr>
          <a:xfrm>
            <a:off x="640080" y="2743200"/>
            <a:ext cx="10972800" cy="457200"/>
          </a:xfrm>
          <a:prstGeom prst="rect">
            <a:avLst/>
          </a:prstGeom>
          <a:noFill/>
        </p:spPr>
        <p:txBody>
          <a:bodyPr wrap="square" lIns="0" rIns="0" tIns="0" bIns="0" anchor="t">
            <a:spAutoFit/>
          </a:bodyPr>
          <a:lstStyle/>
          <a:p>
            <a:pPr algn="l"/>
            <a:r>
              <a:rPr sz="1300" b="1" i="0">
                <a:solidFill>
                  <a:srgbClr val="3BD67A"/>
                </a:solidFill>
                <a:latin typeface="Helvetica"/>
              </a:rPr>
              <a:t>EXPECTED SEQUENCE</a:t>
            </a:r>
          </a:p>
        </p:txBody>
      </p:sp>
      <p:sp>
        <p:nvSpPr>
          <p:cNvPr id="11" name="TextBox 10"/>
          <p:cNvSpPr txBox="1"/>
          <p:nvPr/>
        </p:nvSpPr>
        <p:spPr>
          <a:xfrm>
            <a:off x="640080" y="3200400"/>
            <a:ext cx="1188720" cy="365760"/>
          </a:xfrm>
          <a:prstGeom prst="rect">
            <a:avLst/>
          </a:prstGeom>
          <a:noFill/>
        </p:spPr>
        <p:txBody>
          <a:bodyPr wrap="square" lIns="0" rIns="0" tIns="0" bIns="0" anchor="t">
            <a:spAutoFit/>
          </a:bodyPr>
          <a:lstStyle/>
          <a:p>
            <a:pPr algn="l"/>
            <a:r>
              <a:rPr sz="1300" b="1" i="0">
                <a:solidFill>
                  <a:srgbClr val="E54242"/>
                </a:solidFill>
                <a:latin typeface="Menlo"/>
              </a:rPr>
              <a:t>T+0s</a:t>
            </a:r>
          </a:p>
        </p:txBody>
      </p:sp>
      <p:sp>
        <p:nvSpPr>
          <p:cNvPr id="12" name="TextBox 11"/>
          <p:cNvSpPr txBox="1"/>
          <p:nvPr/>
        </p:nvSpPr>
        <p:spPr>
          <a:xfrm>
            <a:off x="1920240" y="3200400"/>
            <a:ext cx="9601200" cy="365760"/>
          </a:xfrm>
          <a:prstGeom prst="rect">
            <a:avLst/>
          </a:prstGeom>
          <a:noFill/>
        </p:spPr>
        <p:txBody>
          <a:bodyPr wrap="square" lIns="0" rIns="0" tIns="0" bIns="0" anchor="t">
            <a:spAutoFit/>
          </a:bodyPr>
          <a:lstStyle/>
          <a:p>
            <a:pPr algn="l"/>
            <a:r>
              <a:rPr sz="1300" b="0" i="0">
                <a:solidFill>
                  <a:srgbClr val="E8F0EA"/>
                </a:solidFill>
                <a:latin typeface="Menlo"/>
              </a:rPr>
              <a:t>docker exec demo3-web rm -rf /usr/share/nginx/html/*</a:t>
            </a:r>
          </a:p>
        </p:txBody>
      </p:sp>
      <p:sp>
        <p:nvSpPr>
          <p:cNvPr id="13" name="TextBox 12"/>
          <p:cNvSpPr txBox="1"/>
          <p:nvPr/>
        </p:nvSpPr>
        <p:spPr>
          <a:xfrm>
            <a:off x="640080" y="3566160"/>
            <a:ext cx="1188720" cy="365760"/>
          </a:xfrm>
          <a:prstGeom prst="rect">
            <a:avLst/>
          </a:prstGeom>
          <a:noFill/>
        </p:spPr>
        <p:txBody>
          <a:bodyPr wrap="square" lIns="0" rIns="0" tIns="0" bIns="0" anchor="t">
            <a:spAutoFit/>
          </a:bodyPr>
          <a:lstStyle/>
          <a:p>
            <a:pPr algn="l"/>
            <a:r>
              <a:rPr sz="1300" b="1" i="0">
                <a:solidFill>
                  <a:srgbClr val="E54242"/>
                </a:solidFill>
                <a:latin typeface="Menlo"/>
              </a:rPr>
              <a:t>T+0.3s</a:t>
            </a:r>
          </a:p>
        </p:txBody>
      </p:sp>
      <p:sp>
        <p:nvSpPr>
          <p:cNvPr id="14" name="TextBox 13"/>
          <p:cNvSpPr txBox="1"/>
          <p:nvPr/>
        </p:nvSpPr>
        <p:spPr>
          <a:xfrm>
            <a:off x="1920240" y="3566160"/>
            <a:ext cx="9601200" cy="365760"/>
          </a:xfrm>
          <a:prstGeom prst="rect">
            <a:avLst/>
          </a:prstGeom>
          <a:noFill/>
        </p:spPr>
        <p:txBody>
          <a:bodyPr wrap="square" lIns="0" rIns="0" tIns="0" bIns="0" anchor="t">
            <a:spAutoFit/>
          </a:bodyPr>
          <a:lstStyle/>
          <a:p>
            <a:pPr algn="l"/>
            <a:r>
              <a:rPr sz="1300" b="0" i="0">
                <a:solidFill>
                  <a:srgbClr val="E8F0EA"/>
                </a:solidFill>
                <a:latin typeface="Menlo"/>
              </a:rPr>
              <a:t>HTTP on :9091 → 404</a:t>
            </a:r>
          </a:p>
        </p:txBody>
      </p:sp>
      <p:sp>
        <p:nvSpPr>
          <p:cNvPr id="15" name="TextBox 14"/>
          <p:cNvSpPr txBox="1"/>
          <p:nvPr/>
        </p:nvSpPr>
        <p:spPr>
          <a:xfrm>
            <a:off x="640080" y="3931920"/>
            <a:ext cx="1188720" cy="365760"/>
          </a:xfrm>
          <a:prstGeom prst="rect">
            <a:avLst/>
          </a:prstGeom>
          <a:noFill/>
        </p:spPr>
        <p:txBody>
          <a:bodyPr wrap="square" lIns="0" rIns="0" tIns="0" bIns="0" anchor="t">
            <a:spAutoFit/>
          </a:bodyPr>
          <a:lstStyle/>
          <a:p>
            <a:pPr algn="l"/>
            <a:r>
              <a:rPr sz="1300" b="1" i="0">
                <a:solidFill>
                  <a:srgbClr val="3BD67A"/>
                </a:solidFill>
                <a:latin typeface="Menlo"/>
              </a:rPr>
              <a:t>T+1.0s</a:t>
            </a:r>
          </a:p>
        </p:txBody>
      </p:sp>
      <p:sp>
        <p:nvSpPr>
          <p:cNvPr id="16" name="TextBox 15"/>
          <p:cNvSpPr txBox="1"/>
          <p:nvPr/>
        </p:nvSpPr>
        <p:spPr>
          <a:xfrm>
            <a:off x="1920240" y="3931920"/>
            <a:ext cx="9601200" cy="365760"/>
          </a:xfrm>
          <a:prstGeom prst="rect">
            <a:avLst/>
          </a:prstGeom>
          <a:noFill/>
        </p:spPr>
        <p:txBody>
          <a:bodyPr wrap="square" lIns="0" rIns="0" tIns="0" bIns="0" anchor="t">
            <a:spAutoFit/>
          </a:bodyPr>
          <a:lstStyle/>
          <a:p>
            <a:pPr algn="l"/>
            <a:r>
              <a:rPr sz="1300" b="0" i="0">
                <a:solidFill>
                  <a:srgbClr val="E8F0EA"/>
                </a:solidFill>
                <a:latin typeface="Menlo"/>
              </a:rPr>
              <a:t>guardian: DRIFT_DETECTED {"tier":"WEB"}</a:t>
            </a:r>
          </a:p>
        </p:txBody>
      </p:sp>
      <p:sp>
        <p:nvSpPr>
          <p:cNvPr id="17" name="TextBox 16"/>
          <p:cNvSpPr txBox="1"/>
          <p:nvPr/>
        </p:nvSpPr>
        <p:spPr>
          <a:xfrm>
            <a:off x="640080" y="4297680"/>
            <a:ext cx="1188720" cy="365760"/>
          </a:xfrm>
          <a:prstGeom prst="rect">
            <a:avLst/>
          </a:prstGeom>
          <a:noFill/>
        </p:spPr>
        <p:txBody>
          <a:bodyPr wrap="square" lIns="0" rIns="0" tIns="0" bIns="0" anchor="t">
            <a:spAutoFit/>
          </a:bodyPr>
          <a:lstStyle/>
          <a:p>
            <a:pPr algn="l"/>
            <a:r>
              <a:rPr sz="1300" b="1" i="0">
                <a:solidFill>
                  <a:srgbClr val="3BD67A"/>
                </a:solidFill>
                <a:latin typeface="Menlo"/>
              </a:rPr>
              <a:t>T+1.1s</a:t>
            </a:r>
          </a:p>
        </p:txBody>
      </p:sp>
      <p:sp>
        <p:nvSpPr>
          <p:cNvPr id="18" name="TextBox 17"/>
          <p:cNvSpPr txBox="1"/>
          <p:nvPr/>
        </p:nvSpPr>
        <p:spPr>
          <a:xfrm>
            <a:off x="1920240" y="4297680"/>
            <a:ext cx="9601200" cy="365760"/>
          </a:xfrm>
          <a:prstGeom prst="rect">
            <a:avLst/>
          </a:prstGeom>
          <a:noFill/>
        </p:spPr>
        <p:txBody>
          <a:bodyPr wrap="square" lIns="0" rIns="0" tIns="0" bIns="0" anchor="t">
            <a:spAutoFit/>
          </a:bodyPr>
          <a:lstStyle/>
          <a:p>
            <a:pPr algn="l"/>
            <a:r>
              <a:rPr sz="1300" b="0" i="0">
                <a:solidFill>
                  <a:srgbClr val="E8F0EA"/>
                </a:solidFill>
                <a:latin typeface="Menlo"/>
              </a:rPr>
              <a:t>guardian: RESPAWN_START — docker run demo3-web:golden</a:t>
            </a:r>
          </a:p>
        </p:txBody>
      </p:sp>
      <p:sp>
        <p:nvSpPr>
          <p:cNvPr id="19" name="TextBox 18"/>
          <p:cNvSpPr txBox="1"/>
          <p:nvPr/>
        </p:nvSpPr>
        <p:spPr>
          <a:xfrm>
            <a:off x="640080" y="4663440"/>
            <a:ext cx="1188720" cy="365760"/>
          </a:xfrm>
          <a:prstGeom prst="rect">
            <a:avLst/>
          </a:prstGeom>
          <a:noFill/>
        </p:spPr>
        <p:txBody>
          <a:bodyPr wrap="square" lIns="0" rIns="0" tIns="0" bIns="0" anchor="t">
            <a:spAutoFit/>
          </a:bodyPr>
          <a:lstStyle/>
          <a:p>
            <a:pPr algn="l"/>
            <a:r>
              <a:rPr sz="1300" b="1" i="0">
                <a:solidFill>
                  <a:srgbClr val="3BD67A"/>
                </a:solidFill>
                <a:latin typeface="Menlo"/>
              </a:rPr>
              <a:t>T+1.6s</a:t>
            </a:r>
          </a:p>
        </p:txBody>
      </p:sp>
      <p:sp>
        <p:nvSpPr>
          <p:cNvPr id="20" name="TextBox 19"/>
          <p:cNvSpPr txBox="1"/>
          <p:nvPr/>
        </p:nvSpPr>
        <p:spPr>
          <a:xfrm>
            <a:off x="1920240" y="4663440"/>
            <a:ext cx="9601200" cy="365760"/>
          </a:xfrm>
          <a:prstGeom prst="rect">
            <a:avLst/>
          </a:prstGeom>
          <a:noFill/>
        </p:spPr>
        <p:txBody>
          <a:bodyPr wrap="square" lIns="0" rIns="0" tIns="0" bIns="0" anchor="t">
            <a:spAutoFit/>
          </a:bodyPr>
          <a:lstStyle/>
          <a:p>
            <a:pPr algn="l"/>
            <a:r>
              <a:rPr sz="1300" b="0" i="0">
                <a:solidFill>
                  <a:srgbClr val="E8F0EA"/>
                </a:solidFill>
                <a:latin typeface="Menlo"/>
              </a:rPr>
              <a:t>guardian: RESPAWN_SUCCESS mttr_s=0.63 mttr_ms=631</a:t>
            </a:r>
          </a:p>
        </p:txBody>
      </p:sp>
      <p:sp>
        <p:nvSpPr>
          <p:cNvPr id="21" name="TextBox 20"/>
          <p:cNvSpPr txBox="1"/>
          <p:nvPr/>
        </p:nvSpPr>
        <p:spPr>
          <a:xfrm>
            <a:off x="640080" y="5029200"/>
            <a:ext cx="1188720" cy="365760"/>
          </a:xfrm>
          <a:prstGeom prst="rect">
            <a:avLst/>
          </a:prstGeom>
          <a:noFill/>
        </p:spPr>
        <p:txBody>
          <a:bodyPr wrap="square" lIns="0" rIns="0" tIns="0" bIns="0" anchor="t">
            <a:spAutoFit/>
          </a:bodyPr>
          <a:lstStyle/>
          <a:p>
            <a:pPr algn="l"/>
            <a:r>
              <a:rPr sz="1300" b="1" i="0">
                <a:solidFill>
                  <a:srgbClr val="3BD67A"/>
                </a:solidFill>
                <a:latin typeface="Menlo"/>
              </a:rPr>
              <a:t>T+1.7s</a:t>
            </a:r>
          </a:p>
        </p:txBody>
      </p:sp>
      <p:sp>
        <p:nvSpPr>
          <p:cNvPr id="22" name="TextBox 21"/>
          <p:cNvSpPr txBox="1"/>
          <p:nvPr/>
        </p:nvSpPr>
        <p:spPr>
          <a:xfrm>
            <a:off x="1920240" y="5029200"/>
            <a:ext cx="9601200" cy="365760"/>
          </a:xfrm>
          <a:prstGeom prst="rect">
            <a:avLst/>
          </a:prstGeom>
          <a:noFill/>
        </p:spPr>
        <p:txBody>
          <a:bodyPr wrap="square" lIns="0" rIns="0" tIns="0" bIns="0" anchor="t">
            <a:spAutoFit/>
          </a:bodyPr>
          <a:lstStyle/>
          <a:p>
            <a:pPr algn="l"/>
            <a:r>
              <a:rPr sz="1300" b="0" i="0">
                <a:solidFill>
                  <a:srgbClr val="E8F0EA"/>
                </a:solidFill>
                <a:latin typeface="Menlo"/>
              </a:rPr>
              <a:t>HTTP on :9091 → 200 · dashboard ring flips to green</a:t>
            </a:r>
          </a:p>
        </p:txBody>
      </p:sp>
      <p:sp>
        <p:nvSpPr>
          <p:cNvPr id="23" name="TextBox 22"/>
          <p:cNvSpPr txBox="1"/>
          <p:nvPr/>
        </p:nvSpPr>
        <p:spPr>
          <a:xfrm>
            <a:off x="640080" y="5760720"/>
            <a:ext cx="10972800" cy="457200"/>
          </a:xfrm>
          <a:prstGeom prst="rect">
            <a:avLst/>
          </a:prstGeom>
          <a:noFill/>
        </p:spPr>
        <p:txBody>
          <a:bodyPr wrap="square" lIns="0" rIns="0" tIns="0" bIns="0" anchor="t">
            <a:spAutoFit/>
          </a:bodyPr>
          <a:lstStyle/>
          <a:p>
            <a:pPr algn="ctr"/>
            <a:r>
              <a:rPr sz="1800" b="1" i="0">
                <a:solidFill>
                  <a:srgbClr val="3BD67A"/>
                </a:solidFill>
                <a:latin typeface="Helvetica"/>
              </a:rPr>
              <a:t>R₁ = 0.63s   &lt;   V = 30s     →     DEFENDER WINS   (47× margin)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56A6F0"/>
          </a:solidFill>
          <a:ln>
            <a:solidFill>
              <a:srgbClr val="56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LIVE · Attack 2 — App Tier Cascade</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T1529 · kill stateful container · watch what survives and what doesn't</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TextBox 6"/>
          <p:cNvSpPr txBox="1"/>
          <p:nvPr/>
        </p:nvSpPr>
        <p:spPr>
          <a:xfrm>
            <a:off x="640080" y="1554480"/>
            <a:ext cx="10972800" cy="457200"/>
          </a:xfrm>
          <a:prstGeom prst="rect">
            <a:avLst/>
          </a:prstGeom>
          <a:noFill/>
        </p:spPr>
        <p:txBody>
          <a:bodyPr wrap="square" lIns="0" rIns="0" tIns="0" bIns="0" anchor="t">
            <a:spAutoFit/>
          </a:bodyPr>
          <a:lstStyle/>
          <a:p>
            <a:pPr algn="l"/>
            <a:r>
              <a:rPr sz="1300" b="1" i="0">
                <a:solidFill>
                  <a:srgbClr val="3BD67A"/>
                </a:solidFill>
                <a:latin typeface="Helvetica"/>
              </a:rPr>
              <a:t>COMMAND (live)</a:t>
            </a:r>
          </a:p>
        </p:txBody>
      </p:sp>
      <p:sp>
        <p:nvSpPr>
          <p:cNvPr id="8" name="Rectangle 7"/>
          <p:cNvSpPr/>
          <p:nvPr/>
        </p:nvSpPr>
        <p:spPr>
          <a:xfrm>
            <a:off x="640080" y="1920240"/>
            <a:ext cx="10972800" cy="548640"/>
          </a:xfrm>
          <a:prstGeom prst="rect">
            <a:avLst/>
          </a:prstGeom>
          <a:solidFill>
            <a:srgbClr val="0F1F17"/>
          </a:solidFill>
          <a:ln w="12700">
            <a:solidFill>
              <a:srgbClr val="56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10789920" cy="365760"/>
          </a:xfrm>
          <a:prstGeom prst="rect">
            <a:avLst/>
          </a:prstGeom>
          <a:noFill/>
        </p:spPr>
        <p:txBody>
          <a:bodyPr wrap="square" lIns="0" rIns="0" tIns="0" bIns="0" anchor="ctr">
            <a:spAutoFit/>
          </a:bodyPr>
          <a:lstStyle/>
          <a:p>
            <a:pPr algn="l"/>
            <a:r>
              <a:rPr sz="1600" b="1" i="0">
                <a:solidFill>
                  <a:srgbClr val="3BD67A"/>
                </a:solidFill>
                <a:latin typeface="Menlo"/>
              </a:rPr>
              <a:t>$  ./setup_and_run3.sh attack app</a:t>
            </a:r>
          </a:p>
        </p:txBody>
      </p:sp>
      <p:sp>
        <p:nvSpPr>
          <p:cNvPr id="10" name="Rectangle 9"/>
          <p:cNvSpPr/>
          <p:nvPr/>
        </p:nvSpPr>
        <p:spPr>
          <a:xfrm>
            <a:off x="640080" y="2743200"/>
            <a:ext cx="5394960" cy="3291840"/>
          </a:xfrm>
          <a:prstGeom prst="rect">
            <a:avLst/>
          </a:prstGeom>
          <a:solidFill>
            <a:srgbClr val="0F1F17"/>
          </a:solidFill>
          <a:ln w="12700">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834640"/>
            <a:ext cx="5394960" cy="457200"/>
          </a:xfrm>
          <a:prstGeom prst="rect">
            <a:avLst/>
          </a:prstGeom>
          <a:noFill/>
        </p:spPr>
        <p:txBody>
          <a:bodyPr wrap="square" lIns="0" rIns="0" tIns="0" bIns="0" anchor="t">
            <a:spAutoFit/>
          </a:bodyPr>
          <a:lstStyle/>
          <a:p>
            <a:pPr algn="ctr"/>
            <a:r>
              <a:rPr sz="1500" b="1" i="0">
                <a:solidFill>
                  <a:srgbClr val="E54242"/>
                </a:solidFill>
                <a:latin typeface="Helvetica"/>
              </a:rPr>
              <a:t>LOST  (in-memory)</a:t>
            </a:r>
          </a:p>
        </p:txBody>
      </p:sp>
      <p:sp>
        <p:nvSpPr>
          <p:cNvPr id="12" name="TextBox 11"/>
          <p:cNvSpPr txBox="1"/>
          <p:nvPr/>
        </p:nvSpPr>
        <p:spPr>
          <a:xfrm>
            <a:off x="822960" y="3383280"/>
            <a:ext cx="5029200" cy="2560320"/>
          </a:xfrm>
          <a:prstGeom prst="rect">
            <a:avLst/>
          </a:prstGeom>
          <a:noFill/>
        </p:spPr>
        <p:txBody>
          <a:bodyPr wrap="square" lIns="0" rIns="0" tIns="0" bIns="0" anchor="t">
            <a:spAutoFit/>
          </a:bodyPr>
          <a:lstStyle/>
          <a:p>
            <a:pPr algn="l"/>
            <a:r>
              <a:rPr sz="1300" b="0" i="0">
                <a:solidFill>
                  <a:srgbClr val="E8F0EA"/>
                </a:solidFill>
                <a:latin typeface="Menlo"/>
              </a:rPr>
              <a:t>sessions_active: 3</a:t>
            </a:r>
          </a:p>
          <a:p>
            <a:pPr algn="l"/>
            <a:r>
              <a:rPr sz="1300" b="0" i="0">
                <a:solidFill>
                  <a:srgbClr val="E8F0EA"/>
                </a:solidFill>
                <a:latin typeface="Menlo"/>
              </a:rPr>
              <a:t>  victim_1, victim_2, victim_3</a:t>
            </a:r>
          </a:p>
          <a:p>
            <a:pPr algn="l"/>
            <a:r>
              <a:rPr sz="1300" b="0" i="0">
                <a:solidFill>
                  <a:srgbClr val="E8F0EA"/>
                </a:solidFill>
                <a:latin typeface="Menlo"/>
              </a:rPr>
              <a:t/>
            </a:r>
          </a:p>
          <a:p>
            <a:pPr algn="l"/>
            <a:r>
              <a:rPr sz="1300" b="0" i="0">
                <a:solidFill>
                  <a:srgbClr val="E8F0EA"/>
                </a:solidFill>
                <a:latin typeface="Menlo"/>
              </a:rPr>
              <a:t>CSRF tokens</a:t>
            </a:r>
          </a:p>
          <a:p>
            <a:pPr algn="l"/>
            <a:r>
              <a:rPr sz="1300" b="0" i="0">
                <a:solidFill>
                  <a:srgbClr val="E8F0EA"/>
                </a:solidFill>
                <a:latin typeface="Menlo"/>
              </a:rPr>
              <a:t>In-flight request buffers</a:t>
            </a:r>
          </a:p>
          <a:p>
            <a:pPr algn="l"/>
            <a:r>
              <a:rPr sz="1300" b="0" i="0">
                <a:solidFill>
                  <a:srgbClr val="E8F0EA"/>
                </a:solidFill>
                <a:latin typeface="Menlo"/>
              </a:rPr>
              <a:t>Cached DB responses</a:t>
            </a:r>
          </a:p>
          <a:p>
            <a:pPr algn="l"/>
            <a:r>
              <a:rPr sz="1300" b="0" i="0">
                <a:solidFill>
                  <a:srgbClr val="E8F0EA"/>
                </a:solidFill>
                <a:latin typeface="Menlo"/>
              </a:rPr>
              <a:t/>
            </a:r>
          </a:p>
          <a:p>
            <a:pPr algn="l"/>
            <a:r>
              <a:rPr sz="1300" b="0" i="0">
                <a:solidFill>
                  <a:srgbClr val="E8F0EA"/>
                </a:solidFill>
                <a:latin typeface="Menlo"/>
              </a:rPr>
              <a:t>Users must re-authenticate.</a:t>
            </a:r>
          </a:p>
          <a:p>
            <a:pPr algn="l"/>
            <a:r>
              <a:rPr sz="1300" b="0" i="0">
                <a:solidFill>
                  <a:srgbClr val="E8F0EA"/>
                </a:solidFill>
                <a:latin typeface="Menlo"/>
              </a:rPr>
              <a:t>Acceptable by design.</a:t>
            </a:r>
          </a:p>
        </p:txBody>
      </p:sp>
      <p:sp>
        <p:nvSpPr>
          <p:cNvPr id="13" name="Rectangle 12"/>
          <p:cNvSpPr/>
          <p:nvPr/>
        </p:nvSpPr>
        <p:spPr>
          <a:xfrm>
            <a:off x="6309360" y="2743200"/>
            <a:ext cx="5394960" cy="3291840"/>
          </a:xfrm>
          <a:prstGeom prst="rect">
            <a:avLst/>
          </a:prstGeom>
          <a:solidFill>
            <a:srgbClr val="0F1F17"/>
          </a:solidFill>
          <a:ln w="1270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834640"/>
            <a:ext cx="5394960" cy="457200"/>
          </a:xfrm>
          <a:prstGeom prst="rect">
            <a:avLst/>
          </a:prstGeom>
          <a:noFill/>
        </p:spPr>
        <p:txBody>
          <a:bodyPr wrap="square" lIns="0" rIns="0" tIns="0" bIns="0" anchor="t">
            <a:spAutoFit/>
          </a:bodyPr>
          <a:lstStyle/>
          <a:p>
            <a:pPr algn="ctr"/>
            <a:r>
              <a:rPr sz="1500" b="1" i="0">
                <a:solidFill>
                  <a:srgbClr val="3BD67A"/>
                </a:solidFill>
                <a:latin typeface="Helvetica"/>
              </a:rPr>
              <a:t>PRESERVED  (Postgres)</a:t>
            </a:r>
          </a:p>
        </p:txBody>
      </p:sp>
      <p:sp>
        <p:nvSpPr>
          <p:cNvPr id="15" name="TextBox 14"/>
          <p:cNvSpPr txBox="1"/>
          <p:nvPr/>
        </p:nvSpPr>
        <p:spPr>
          <a:xfrm>
            <a:off x="6492240" y="3383280"/>
            <a:ext cx="5029200" cy="2560320"/>
          </a:xfrm>
          <a:prstGeom prst="rect">
            <a:avLst/>
          </a:prstGeom>
          <a:noFill/>
        </p:spPr>
        <p:txBody>
          <a:bodyPr wrap="square" lIns="0" rIns="0" tIns="0" bIns="0" anchor="t">
            <a:spAutoFit/>
          </a:bodyPr>
          <a:lstStyle/>
          <a:p>
            <a:pPr algn="l"/>
            <a:r>
              <a:rPr sz="1300" b="0" i="0">
                <a:solidFill>
                  <a:srgbClr val="E8F0EA"/>
                </a:solidFill>
                <a:latin typeface="Menlo"/>
              </a:rPr>
              <a:t>transactions: 503</a:t>
            </a:r>
          </a:p>
          <a:p>
            <a:pPr algn="l"/>
            <a:r>
              <a:rPr sz="1300" b="0" i="0">
                <a:solidFill>
                  <a:srgbClr val="E8F0EA"/>
                </a:solidFill>
                <a:latin typeface="Menlo"/>
              </a:rPr>
              <a:t>  unchanged before and after</a:t>
            </a:r>
          </a:p>
          <a:p>
            <a:pPr algn="l"/>
            <a:r>
              <a:rPr sz="1300" b="0" i="0">
                <a:solidFill>
                  <a:srgbClr val="E8F0EA"/>
                </a:solidFill>
                <a:latin typeface="Menlo"/>
              </a:rPr>
              <a:t/>
            </a:r>
          </a:p>
          <a:p>
            <a:pPr algn="l"/>
            <a:r>
              <a:rPr sz="1300" b="0" i="0">
                <a:solidFill>
                  <a:srgbClr val="E8F0EA"/>
                </a:solidFill>
                <a:latin typeface="Menlo"/>
              </a:rPr>
              <a:t>All committed writes</a:t>
            </a:r>
          </a:p>
          <a:p>
            <a:pPr algn="l"/>
            <a:r>
              <a:rPr sz="1300" b="0" i="0">
                <a:solidFill>
                  <a:srgbClr val="E8F0EA"/>
                </a:solidFill>
                <a:latin typeface="Menlo"/>
              </a:rPr>
              <a:t>All indexes</a:t>
            </a:r>
          </a:p>
          <a:p>
            <a:pPr algn="l"/>
            <a:r>
              <a:rPr sz="1300" b="0" i="0">
                <a:solidFill>
                  <a:srgbClr val="E8F0EA"/>
                </a:solidFill>
                <a:latin typeface="Menlo"/>
              </a:rPr>
              <a:t>Streaming replication to replica</a:t>
            </a:r>
          </a:p>
          <a:p>
            <a:pPr algn="l"/>
            <a:r>
              <a:rPr sz="1300" b="0" i="0">
                <a:solidFill>
                  <a:srgbClr val="E8F0EA"/>
                </a:solidFill>
                <a:latin typeface="Menlo"/>
              </a:rPr>
              <a:t/>
            </a:r>
          </a:p>
          <a:p>
            <a:pPr algn="l"/>
            <a:r>
              <a:rPr sz="1300" b="0" i="0">
                <a:solidFill>
                  <a:srgbClr val="E8F0EA"/>
                </a:solidFill>
                <a:latin typeface="Menlo"/>
              </a:rPr>
              <a:t>Money survives the respawn.</a:t>
            </a:r>
          </a:p>
          <a:p>
            <a:pPr algn="l"/>
            <a:r>
              <a:rPr sz="1300" b="0" i="0">
                <a:solidFill>
                  <a:srgbClr val="E8F0EA"/>
                </a:solidFill>
                <a:latin typeface="Menlo"/>
              </a:rPr>
              <a:t>R₂ = 0.73s.</a:t>
            </a:r>
          </a:p>
        </p:txBody>
      </p:sp>
      <p:sp>
        <p:nvSpPr>
          <p:cNvPr id="16" name="TextBox 15"/>
          <p:cNvSpPr txBox="1"/>
          <p:nvPr/>
        </p:nvSpPr>
        <p:spPr>
          <a:xfrm>
            <a:off x="640080" y="6172200"/>
            <a:ext cx="10972800" cy="365760"/>
          </a:xfrm>
          <a:prstGeom prst="rect">
            <a:avLst/>
          </a:prstGeom>
          <a:noFill/>
        </p:spPr>
        <p:txBody>
          <a:bodyPr wrap="square" lIns="0" rIns="0" tIns="0" bIns="0" anchor="t">
            <a:spAutoFit/>
          </a:bodyPr>
          <a:lstStyle/>
          <a:p>
            <a:pPr algn="ctr"/>
            <a:r>
              <a:rPr sz="1500" b="0" i="1">
                <a:solidFill>
                  <a:srgbClr val="56A6F0"/>
                </a:solidFill>
                <a:latin typeface="Helvetica"/>
              </a:rPr>
              <a:t>Stateless = respawnable. Stateful = needs DB. The state-loss contract.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A37BE8"/>
          </a:solidFill>
          <a:ln>
            <a:solidFill>
              <a:srgbClr val="A37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LIVE · Attack 3 — DB Ransomware (T1486)</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Mass UPDATE simulation · 700-900 rows/sec · fence the replica</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TextBox 6"/>
          <p:cNvSpPr txBox="1"/>
          <p:nvPr/>
        </p:nvSpPr>
        <p:spPr>
          <a:xfrm>
            <a:off x="640080" y="1554480"/>
            <a:ext cx="10972800" cy="457200"/>
          </a:xfrm>
          <a:prstGeom prst="rect">
            <a:avLst/>
          </a:prstGeom>
          <a:noFill/>
        </p:spPr>
        <p:txBody>
          <a:bodyPr wrap="square" lIns="0" rIns="0" tIns="0" bIns="0" anchor="t">
            <a:spAutoFit/>
          </a:bodyPr>
          <a:lstStyle/>
          <a:p>
            <a:pPr algn="l"/>
            <a:r>
              <a:rPr sz="1300" b="1" i="0">
                <a:solidFill>
                  <a:srgbClr val="3BD67A"/>
                </a:solidFill>
                <a:latin typeface="Helvetica"/>
              </a:rPr>
              <a:t>COMMAND (live)</a:t>
            </a:r>
          </a:p>
        </p:txBody>
      </p:sp>
      <p:sp>
        <p:nvSpPr>
          <p:cNvPr id="8" name="Rectangle 7"/>
          <p:cNvSpPr/>
          <p:nvPr/>
        </p:nvSpPr>
        <p:spPr>
          <a:xfrm>
            <a:off x="640080" y="1920240"/>
            <a:ext cx="10972800" cy="548640"/>
          </a:xfrm>
          <a:prstGeom prst="rect">
            <a:avLst/>
          </a:prstGeom>
          <a:solidFill>
            <a:srgbClr val="0F1F17"/>
          </a:solidFill>
          <a:ln w="12700">
            <a:solidFill>
              <a:srgbClr val="A37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10789920" cy="365760"/>
          </a:xfrm>
          <a:prstGeom prst="rect">
            <a:avLst/>
          </a:prstGeom>
          <a:noFill/>
        </p:spPr>
        <p:txBody>
          <a:bodyPr wrap="square" lIns="0" rIns="0" tIns="0" bIns="0" anchor="ctr">
            <a:spAutoFit/>
          </a:bodyPr>
          <a:lstStyle/>
          <a:p>
            <a:pPr algn="l"/>
            <a:r>
              <a:rPr sz="1600" b="1" i="0">
                <a:solidFill>
                  <a:srgbClr val="3BD67A"/>
                </a:solidFill>
                <a:latin typeface="Menlo"/>
              </a:rPr>
              <a:t>$  ./setup_and_run3.sh attack db      # 5 waves × 200 rows UPDATE</a:t>
            </a:r>
          </a:p>
        </p:txBody>
      </p:sp>
      <p:sp>
        <p:nvSpPr>
          <p:cNvPr id="10" name="TextBox 9"/>
          <p:cNvSpPr txBox="1"/>
          <p:nvPr/>
        </p:nvSpPr>
        <p:spPr>
          <a:xfrm>
            <a:off x="640080" y="2743200"/>
            <a:ext cx="10972800" cy="457200"/>
          </a:xfrm>
          <a:prstGeom prst="rect">
            <a:avLst/>
          </a:prstGeom>
          <a:noFill/>
        </p:spPr>
        <p:txBody>
          <a:bodyPr wrap="square" lIns="0" rIns="0" tIns="0" bIns="0" anchor="t">
            <a:spAutoFit/>
          </a:bodyPr>
          <a:lstStyle/>
          <a:p>
            <a:pPr algn="l"/>
            <a:r>
              <a:rPr sz="1300" b="1" i="0">
                <a:solidFill>
                  <a:srgbClr val="3BD67A"/>
                </a:solidFill>
                <a:latin typeface="Helvetica"/>
              </a:rPr>
              <a:t>DEFENCE SEQUENCE</a:t>
            </a:r>
          </a:p>
        </p:txBody>
      </p:sp>
      <p:sp>
        <p:nvSpPr>
          <p:cNvPr id="11" name="TextBox 10"/>
          <p:cNvSpPr txBox="1"/>
          <p:nvPr/>
        </p:nvSpPr>
        <p:spPr>
          <a:xfrm>
            <a:off x="640080" y="3200400"/>
            <a:ext cx="2560320" cy="365760"/>
          </a:xfrm>
          <a:prstGeom prst="rect">
            <a:avLst/>
          </a:prstGeom>
          <a:noFill/>
        </p:spPr>
        <p:txBody>
          <a:bodyPr wrap="square" lIns="0" rIns="0" tIns="0" bIns="0" anchor="t">
            <a:spAutoFit/>
          </a:bodyPr>
          <a:lstStyle/>
          <a:p>
            <a:pPr algn="l"/>
            <a:r>
              <a:rPr sz="1100" b="1" i="0">
                <a:solidFill>
                  <a:srgbClr val="A37BE8"/>
                </a:solidFill>
                <a:latin typeface="Menlo"/>
              </a:rPr>
              <a:t>T+0s</a:t>
            </a:r>
          </a:p>
        </p:txBody>
      </p:sp>
      <p:sp>
        <p:nvSpPr>
          <p:cNvPr id="12" name="TextBox 11"/>
          <p:cNvSpPr txBox="1"/>
          <p:nvPr/>
        </p:nvSpPr>
        <p:spPr>
          <a:xfrm>
            <a:off x="3291840" y="3200400"/>
            <a:ext cx="8229600" cy="365760"/>
          </a:xfrm>
          <a:prstGeom prst="rect">
            <a:avLst/>
          </a:prstGeom>
          <a:noFill/>
        </p:spPr>
        <p:txBody>
          <a:bodyPr wrap="square" lIns="0" rIns="0" tIns="0" bIns="0" anchor="t">
            <a:spAutoFit/>
          </a:bodyPr>
          <a:lstStyle/>
          <a:p>
            <a:pPr algn="l"/>
            <a:r>
              <a:rPr sz="1100" b="0" i="0">
                <a:solidFill>
                  <a:srgbClr val="E8F0EA"/>
                </a:solidFill>
                <a:latin typeface="Menlo"/>
              </a:rPr>
              <a:t>attack: INSERT 500 rows · UPDATE wave 1 · 200 rows/0.8s</a:t>
            </a:r>
          </a:p>
        </p:txBody>
      </p:sp>
      <p:sp>
        <p:nvSpPr>
          <p:cNvPr id="13" name="TextBox 12"/>
          <p:cNvSpPr txBox="1"/>
          <p:nvPr/>
        </p:nvSpPr>
        <p:spPr>
          <a:xfrm>
            <a:off x="640080" y="3566160"/>
            <a:ext cx="2560320" cy="365760"/>
          </a:xfrm>
          <a:prstGeom prst="rect">
            <a:avLst/>
          </a:prstGeom>
          <a:noFill/>
        </p:spPr>
        <p:txBody>
          <a:bodyPr wrap="square" lIns="0" rIns="0" tIns="0" bIns="0" anchor="t">
            <a:spAutoFit/>
          </a:bodyPr>
          <a:lstStyle/>
          <a:p>
            <a:pPr algn="l"/>
            <a:r>
              <a:rPr sz="1100" b="1" i="0">
                <a:solidFill>
                  <a:srgbClr val="3BD67A"/>
                </a:solidFill>
                <a:latin typeface="Menlo"/>
              </a:rPr>
              <a:t>T+1s</a:t>
            </a:r>
          </a:p>
        </p:txBody>
      </p:sp>
      <p:sp>
        <p:nvSpPr>
          <p:cNvPr id="14" name="TextBox 13"/>
          <p:cNvSpPr txBox="1"/>
          <p:nvPr/>
        </p:nvSpPr>
        <p:spPr>
          <a:xfrm>
            <a:off x="3291840" y="3566160"/>
            <a:ext cx="8229600" cy="365760"/>
          </a:xfrm>
          <a:prstGeom prst="rect">
            <a:avLst/>
          </a:prstGeom>
          <a:noFill/>
        </p:spPr>
        <p:txBody>
          <a:bodyPr wrap="square" lIns="0" rIns="0" tIns="0" bIns="0" anchor="t">
            <a:spAutoFit/>
          </a:bodyPr>
          <a:lstStyle/>
          <a:p>
            <a:pPr algn="l"/>
            <a:r>
              <a:rPr sz="1100" b="0" i="0">
                <a:solidFill>
                  <a:srgbClr val="E8F0EA"/>
                </a:solidFill>
                <a:latin typeface="Menlo"/>
              </a:rPr>
              <a:t>guardian: delta=712 · MASS_WRITE_DETECTED · db_fence_replica</a:t>
            </a:r>
          </a:p>
        </p:txBody>
      </p:sp>
      <p:sp>
        <p:nvSpPr>
          <p:cNvPr id="15" name="TextBox 14"/>
          <p:cNvSpPr txBox="1"/>
          <p:nvPr/>
        </p:nvSpPr>
        <p:spPr>
          <a:xfrm>
            <a:off x="640080" y="3931920"/>
            <a:ext cx="2560320" cy="365760"/>
          </a:xfrm>
          <a:prstGeom prst="rect">
            <a:avLst/>
          </a:prstGeom>
          <a:noFill/>
        </p:spPr>
        <p:txBody>
          <a:bodyPr wrap="square" lIns="0" rIns="0" tIns="0" bIns="0" anchor="t">
            <a:spAutoFit/>
          </a:bodyPr>
          <a:lstStyle/>
          <a:p>
            <a:pPr algn="l"/>
            <a:r>
              <a:rPr sz="1100" b="1" i="0">
                <a:solidFill>
                  <a:srgbClr val="A37BE8"/>
                </a:solidFill>
                <a:latin typeface="Menlo"/>
              </a:rPr>
              <a:t>T+1.05s</a:t>
            </a:r>
          </a:p>
        </p:txBody>
      </p:sp>
      <p:sp>
        <p:nvSpPr>
          <p:cNvPr id="16" name="TextBox 15"/>
          <p:cNvSpPr txBox="1"/>
          <p:nvPr/>
        </p:nvSpPr>
        <p:spPr>
          <a:xfrm>
            <a:off x="3291840" y="3931920"/>
            <a:ext cx="8229600" cy="365760"/>
          </a:xfrm>
          <a:prstGeom prst="rect">
            <a:avLst/>
          </a:prstGeom>
          <a:noFill/>
        </p:spPr>
        <p:txBody>
          <a:bodyPr wrap="square" lIns="0" rIns="0" tIns="0" bIns="0" anchor="t">
            <a:spAutoFit/>
          </a:bodyPr>
          <a:lstStyle/>
          <a:p>
            <a:pPr algn="l"/>
            <a:r>
              <a:rPr sz="1100" b="0" i="0">
                <a:solidFill>
                  <a:srgbClr val="E8F0EA"/>
                </a:solidFill>
                <a:latin typeface="Menlo"/>
              </a:rPr>
              <a:t>guardian: pg_wal_replay_pause() on demo3-db-rep</a:t>
            </a:r>
          </a:p>
        </p:txBody>
      </p:sp>
      <p:sp>
        <p:nvSpPr>
          <p:cNvPr id="17" name="TextBox 16"/>
          <p:cNvSpPr txBox="1"/>
          <p:nvPr/>
        </p:nvSpPr>
        <p:spPr>
          <a:xfrm>
            <a:off x="640080" y="4297680"/>
            <a:ext cx="2560320" cy="365760"/>
          </a:xfrm>
          <a:prstGeom prst="rect">
            <a:avLst/>
          </a:prstGeom>
          <a:noFill/>
        </p:spPr>
        <p:txBody>
          <a:bodyPr wrap="square" lIns="0" rIns="0" tIns="0" bIns="0" anchor="t">
            <a:spAutoFit/>
          </a:bodyPr>
          <a:lstStyle/>
          <a:p>
            <a:pPr algn="l"/>
            <a:r>
              <a:rPr sz="1100" b="1" i="0">
                <a:solidFill>
                  <a:srgbClr val="A37BE8"/>
                </a:solidFill>
                <a:latin typeface="Menlo"/>
              </a:rPr>
              <a:t>T+1.1s</a:t>
            </a:r>
          </a:p>
        </p:txBody>
      </p:sp>
      <p:sp>
        <p:nvSpPr>
          <p:cNvPr id="18" name="TextBox 17"/>
          <p:cNvSpPr txBox="1"/>
          <p:nvPr/>
        </p:nvSpPr>
        <p:spPr>
          <a:xfrm>
            <a:off x="3291840" y="4297680"/>
            <a:ext cx="8229600" cy="365760"/>
          </a:xfrm>
          <a:prstGeom prst="rect">
            <a:avLst/>
          </a:prstGeom>
          <a:noFill/>
        </p:spPr>
        <p:txBody>
          <a:bodyPr wrap="square" lIns="0" rIns="0" tIns="0" bIns="0" anchor="t">
            <a:spAutoFit/>
          </a:bodyPr>
          <a:lstStyle/>
          <a:p>
            <a:pPr algn="l"/>
            <a:r>
              <a:rPr sz="1100" b="0" i="0">
                <a:solidFill>
                  <a:srgbClr val="E8F0EA"/>
                </a:solidFill>
                <a:latin typeface="Menlo"/>
              </a:rPr>
              <a:t>REPLICA_FENCED  (replica frozen at clean LSN)</a:t>
            </a:r>
          </a:p>
        </p:txBody>
      </p:sp>
      <p:sp>
        <p:nvSpPr>
          <p:cNvPr id="19" name="TextBox 18"/>
          <p:cNvSpPr txBox="1"/>
          <p:nvPr/>
        </p:nvSpPr>
        <p:spPr>
          <a:xfrm>
            <a:off x="640080" y="4663440"/>
            <a:ext cx="2560320" cy="365760"/>
          </a:xfrm>
          <a:prstGeom prst="rect">
            <a:avLst/>
          </a:prstGeom>
          <a:noFill/>
        </p:spPr>
        <p:txBody>
          <a:bodyPr wrap="square" lIns="0" rIns="0" tIns="0" bIns="0" anchor="t">
            <a:spAutoFit/>
          </a:bodyPr>
          <a:lstStyle/>
          <a:p>
            <a:pPr algn="l"/>
            <a:r>
              <a:rPr sz="1100" b="1" i="0">
                <a:solidFill>
                  <a:srgbClr val="98A49C"/>
                </a:solidFill>
                <a:latin typeface="Menlo"/>
              </a:rPr>
              <a:t>...10 consecutive quiet ticks of delta &lt; 500...</a:t>
            </a:r>
          </a:p>
        </p:txBody>
      </p:sp>
      <p:sp>
        <p:nvSpPr>
          <p:cNvPr id="20" name="TextBox 19"/>
          <p:cNvSpPr txBox="1"/>
          <p:nvPr/>
        </p:nvSpPr>
        <p:spPr>
          <a:xfrm>
            <a:off x="3291840" y="4663440"/>
            <a:ext cx="8229600" cy="365760"/>
          </a:xfrm>
          <a:prstGeom prst="rect">
            <a:avLst/>
          </a:prstGeom>
          <a:noFill/>
        </p:spPr>
        <p:txBody>
          <a:bodyPr wrap="square" lIns="0" rIns="0" tIns="0" bIns="0" anchor="t">
            <a:spAutoFit/>
          </a:bodyPr>
          <a:lstStyle/>
          <a:p>
            <a:pPr algn="l"/>
            <a:r>
              <a:rPr sz="1100" b="0" i="0">
                <a:solidFill>
                  <a:srgbClr val="E8F0EA"/>
                </a:solidFill>
                <a:latin typeface="Menlo"/>
              </a:rPr>
              <a:t/>
            </a:r>
          </a:p>
        </p:txBody>
      </p:sp>
      <p:sp>
        <p:nvSpPr>
          <p:cNvPr id="21" name="TextBox 20"/>
          <p:cNvSpPr txBox="1"/>
          <p:nvPr/>
        </p:nvSpPr>
        <p:spPr>
          <a:xfrm>
            <a:off x="640080" y="5029200"/>
            <a:ext cx="2560320" cy="365760"/>
          </a:xfrm>
          <a:prstGeom prst="rect">
            <a:avLst/>
          </a:prstGeom>
          <a:noFill/>
        </p:spPr>
        <p:txBody>
          <a:bodyPr wrap="square" lIns="0" rIns="0" tIns="0" bIns="0" anchor="t">
            <a:spAutoFit/>
          </a:bodyPr>
          <a:lstStyle/>
          <a:p>
            <a:pPr algn="l"/>
            <a:r>
              <a:rPr sz="1100" b="1" i="0">
                <a:solidFill>
                  <a:srgbClr val="A37BE8"/>
                </a:solidFill>
                <a:latin typeface="Menlo"/>
              </a:rPr>
              <a:t>T+12.5s</a:t>
            </a:r>
          </a:p>
        </p:txBody>
      </p:sp>
      <p:sp>
        <p:nvSpPr>
          <p:cNvPr id="22" name="TextBox 21"/>
          <p:cNvSpPr txBox="1"/>
          <p:nvPr/>
        </p:nvSpPr>
        <p:spPr>
          <a:xfrm>
            <a:off x="3291840" y="5029200"/>
            <a:ext cx="8229600" cy="365760"/>
          </a:xfrm>
          <a:prstGeom prst="rect">
            <a:avLst/>
          </a:prstGeom>
          <a:noFill/>
        </p:spPr>
        <p:txBody>
          <a:bodyPr wrap="square" lIns="0" rIns="0" tIns="0" bIns="0" anchor="t">
            <a:spAutoFit/>
          </a:bodyPr>
          <a:lstStyle/>
          <a:p>
            <a:pPr algn="l"/>
            <a:r>
              <a:rPr sz="1100" b="0" i="0">
                <a:solidFill>
                  <a:srgbClr val="E8F0EA"/>
                </a:solidFill>
                <a:latin typeface="Menlo"/>
              </a:rPr>
              <a:t>guardian: pg_wal_replay_resume()</a:t>
            </a:r>
          </a:p>
        </p:txBody>
      </p:sp>
      <p:sp>
        <p:nvSpPr>
          <p:cNvPr id="23" name="TextBox 22"/>
          <p:cNvSpPr txBox="1"/>
          <p:nvPr/>
        </p:nvSpPr>
        <p:spPr>
          <a:xfrm>
            <a:off x="640080" y="5394960"/>
            <a:ext cx="2560320" cy="365760"/>
          </a:xfrm>
          <a:prstGeom prst="rect">
            <a:avLst/>
          </a:prstGeom>
          <a:noFill/>
        </p:spPr>
        <p:txBody>
          <a:bodyPr wrap="square" lIns="0" rIns="0" tIns="0" bIns="0" anchor="t">
            <a:spAutoFit/>
          </a:bodyPr>
          <a:lstStyle/>
          <a:p>
            <a:pPr algn="l"/>
            <a:r>
              <a:rPr sz="1100" b="1" i="0">
                <a:solidFill>
                  <a:srgbClr val="3BD67A"/>
                </a:solidFill>
                <a:latin typeface="Menlo"/>
              </a:rPr>
              <a:t>T+12.5s</a:t>
            </a:r>
          </a:p>
        </p:txBody>
      </p:sp>
      <p:sp>
        <p:nvSpPr>
          <p:cNvPr id="24" name="TextBox 23"/>
          <p:cNvSpPr txBox="1"/>
          <p:nvPr/>
        </p:nvSpPr>
        <p:spPr>
          <a:xfrm>
            <a:off x="3291840" y="5394960"/>
            <a:ext cx="8229600" cy="365760"/>
          </a:xfrm>
          <a:prstGeom prst="rect">
            <a:avLst/>
          </a:prstGeom>
          <a:noFill/>
        </p:spPr>
        <p:txBody>
          <a:bodyPr wrap="square" lIns="0" rIns="0" tIns="0" bIns="0" anchor="t">
            <a:spAutoFit/>
          </a:bodyPr>
          <a:lstStyle/>
          <a:p>
            <a:pPr algn="l"/>
            <a:r>
              <a:rPr sz="1100" b="0" i="0">
                <a:solidFill>
                  <a:srgbClr val="E8F0EA"/>
                </a:solidFill>
                <a:latin typeface="Menlo"/>
              </a:rPr>
              <a:t>REPLICA_RESUMED mttr_s=12.50 mttr_ms=12504</a:t>
            </a:r>
          </a:p>
        </p:txBody>
      </p:sp>
      <p:sp>
        <p:nvSpPr>
          <p:cNvPr id="25" name="TextBox 24"/>
          <p:cNvSpPr txBox="1"/>
          <p:nvPr/>
        </p:nvSpPr>
        <p:spPr>
          <a:xfrm>
            <a:off x="640080" y="5852160"/>
            <a:ext cx="10972800" cy="502920"/>
          </a:xfrm>
          <a:prstGeom prst="rect">
            <a:avLst/>
          </a:prstGeom>
          <a:noFill/>
        </p:spPr>
        <p:txBody>
          <a:bodyPr wrap="square" lIns="0" rIns="0" tIns="0" bIns="0" anchor="t">
            <a:spAutoFit/>
          </a:bodyPr>
          <a:lstStyle/>
          <a:p>
            <a:pPr algn="ctr"/>
            <a:r>
              <a:rPr sz="1600" b="1" i="0">
                <a:solidFill>
                  <a:srgbClr val="3BD67A"/>
                </a:solidFill>
                <a:latin typeface="Helvetica"/>
              </a:rPr>
              <a:t>R₃ = 12.56s   &lt;   V = 30s     →     DEFENDER WINS   (2.4× margin)</a:t>
            </a:r>
          </a:p>
        </p:txBody>
      </p:sp>
      <p:sp>
        <p:nvSpPr>
          <p:cNvPr id="26" name="TextBox 25"/>
          <p:cNvSpPr txBox="1"/>
          <p:nvPr/>
        </p:nvSpPr>
        <p:spPr>
          <a:xfrm>
            <a:off x="640080" y="6263640"/>
            <a:ext cx="10972800" cy="365760"/>
          </a:xfrm>
          <a:prstGeom prst="rect">
            <a:avLst/>
          </a:prstGeom>
          <a:noFill/>
        </p:spPr>
        <p:txBody>
          <a:bodyPr wrap="square" lIns="0" rIns="0" tIns="0" bIns="0" anchor="t">
            <a:spAutoFit/>
          </a:bodyPr>
          <a:lstStyle/>
          <a:p>
            <a:pPr algn="ctr"/>
            <a:r>
              <a:rPr sz="1100" b="0" i="1">
                <a:solidFill>
                  <a:srgbClr val="F4B437"/>
                </a:solidFill>
                <a:latin typeface="Helvetica"/>
              </a:rPr>
              <a:t>Honest gap: ~500 rows reach replica before fence engages. Frontier work for CDC.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LIVE · Attack 4 — WAF Gauntlet</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15 real curl attacks · ModSecurity + OWASP CRS · zero mocks</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TextBox 6"/>
          <p:cNvSpPr txBox="1"/>
          <p:nvPr/>
        </p:nvSpPr>
        <p:spPr>
          <a:xfrm>
            <a:off x="640080" y="1554480"/>
            <a:ext cx="10972800" cy="365760"/>
          </a:xfrm>
          <a:prstGeom prst="rect">
            <a:avLst/>
          </a:prstGeom>
          <a:noFill/>
        </p:spPr>
        <p:txBody>
          <a:bodyPr wrap="square" lIns="0" rIns="0" tIns="0" bIns="0" anchor="t">
            <a:spAutoFit/>
          </a:bodyPr>
          <a:lstStyle/>
          <a:p>
            <a:pPr algn="l"/>
            <a:r>
              <a:rPr sz="1200" b="1" i="0">
                <a:solidFill>
                  <a:srgbClr val="98A49C"/>
                </a:solidFill>
                <a:latin typeface="Helvetica"/>
              </a:rPr>
              <a:t>15 REAL CURL REQUESTS · 5 WAVES · MODSECURITY CRS PARANOIA 1</a:t>
            </a:r>
          </a:p>
        </p:txBody>
      </p:sp>
      <p:sp>
        <p:nvSpPr>
          <p:cNvPr id="8" name="Rectangle 7"/>
          <p:cNvSpPr/>
          <p:nvPr/>
        </p:nvSpPr>
        <p:spPr>
          <a:xfrm>
            <a:off x="640080" y="2011680"/>
            <a:ext cx="3108960" cy="594360"/>
          </a:xfrm>
          <a:prstGeom prst="rect">
            <a:avLst/>
          </a:prstGeom>
          <a:solidFill>
            <a:srgbClr val="0F1F17"/>
          </a:solidFill>
          <a:ln w="6350">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11680"/>
            <a:ext cx="2926080" cy="594360"/>
          </a:xfrm>
          <a:prstGeom prst="rect">
            <a:avLst/>
          </a:prstGeom>
          <a:noFill/>
        </p:spPr>
        <p:txBody>
          <a:bodyPr wrap="square" lIns="0" rIns="0" tIns="0" bIns="0" anchor="ctr">
            <a:spAutoFit/>
          </a:bodyPr>
          <a:lstStyle/>
          <a:p>
            <a:pPr algn="l"/>
            <a:r>
              <a:rPr sz="1300" b="1" i="0">
                <a:solidFill>
                  <a:srgbClr val="F4B437"/>
                </a:solidFill>
                <a:latin typeface="Helvetica"/>
              </a:rPr>
              <a:t>Wave 1 — RECON</a:t>
            </a:r>
          </a:p>
        </p:txBody>
      </p:sp>
      <p:sp>
        <p:nvSpPr>
          <p:cNvPr id="10" name="TextBox 9"/>
          <p:cNvSpPr txBox="1"/>
          <p:nvPr/>
        </p:nvSpPr>
        <p:spPr>
          <a:xfrm>
            <a:off x="3931920" y="2057400"/>
            <a:ext cx="4846320" cy="548640"/>
          </a:xfrm>
          <a:prstGeom prst="rect">
            <a:avLst/>
          </a:prstGeom>
          <a:noFill/>
        </p:spPr>
        <p:txBody>
          <a:bodyPr wrap="square" lIns="0" rIns="0" tIns="0" bIns="0" anchor="ctr">
            <a:spAutoFit/>
          </a:bodyPr>
          <a:lstStyle/>
          <a:p>
            <a:pPr algn="l"/>
            <a:r>
              <a:rPr sz="1100" b="0" i="0">
                <a:solidFill>
                  <a:srgbClr val="98A49C"/>
                </a:solidFill>
                <a:latin typeface="Menlo"/>
              </a:rPr>
              <a:t>sqlmap UA · Nikto UA</a:t>
            </a:r>
          </a:p>
        </p:txBody>
      </p:sp>
      <p:sp>
        <p:nvSpPr>
          <p:cNvPr id="11" name="TextBox 10"/>
          <p:cNvSpPr txBox="1"/>
          <p:nvPr/>
        </p:nvSpPr>
        <p:spPr>
          <a:xfrm>
            <a:off x="8961120" y="2057400"/>
            <a:ext cx="2743200" cy="548640"/>
          </a:xfrm>
          <a:prstGeom prst="rect">
            <a:avLst/>
          </a:prstGeom>
          <a:noFill/>
        </p:spPr>
        <p:txBody>
          <a:bodyPr wrap="square" lIns="0" rIns="0" tIns="0" bIns="0" anchor="ctr">
            <a:spAutoFit/>
          </a:bodyPr>
          <a:lstStyle/>
          <a:p>
            <a:pPr algn="r"/>
            <a:r>
              <a:rPr sz="1200" b="1" i="0">
                <a:solidFill>
                  <a:srgbClr val="3BD67A"/>
                </a:solidFill>
                <a:latin typeface="Helvetica"/>
              </a:rPr>
              <a:t>2/2 blocked</a:t>
            </a:r>
          </a:p>
        </p:txBody>
      </p:sp>
      <p:sp>
        <p:nvSpPr>
          <p:cNvPr id="12" name="Rectangle 11"/>
          <p:cNvSpPr/>
          <p:nvPr/>
        </p:nvSpPr>
        <p:spPr>
          <a:xfrm>
            <a:off x="640080" y="2697480"/>
            <a:ext cx="3108960" cy="594360"/>
          </a:xfrm>
          <a:prstGeom prst="rect">
            <a:avLst/>
          </a:prstGeom>
          <a:solidFill>
            <a:srgbClr val="0F1F17"/>
          </a:solidFill>
          <a:ln w="6350">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697480"/>
            <a:ext cx="2926080" cy="594360"/>
          </a:xfrm>
          <a:prstGeom prst="rect">
            <a:avLst/>
          </a:prstGeom>
          <a:noFill/>
        </p:spPr>
        <p:txBody>
          <a:bodyPr wrap="square" lIns="0" rIns="0" tIns="0" bIns="0" anchor="ctr">
            <a:spAutoFit/>
          </a:bodyPr>
          <a:lstStyle/>
          <a:p>
            <a:pPr algn="l"/>
            <a:r>
              <a:rPr sz="1300" b="1" i="0">
                <a:solidFill>
                  <a:srgbClr val="F4B437"/>
                </a:solidFill>
                <a:latin typeface="Helvetica"/>
              </a:rPr>
              <a:t>Wave 2 — SQLi</a:t>
            </a:r>
          </a:p>
        </p:txBody>
      </p:sp>
      <p:sp>
        <p:nvSpPr>
          <p:cNvPr id="14" name="TextBox 13"/>
          <p:cNvSpPr txBox="1"/>
          <p:nvPr/>
        </p:nvSpPr>
        <p:spPr>
          <a:xfrm>
            <a:off x="3931920" y="2743200"/>
            <a:ext cx="4846320" cy="548640"/>
          </a:xfrm>
          <a:prstGeom prst="rect">
            <a:avLst/>
          </a:prstGeom>
          <a:noFill/>
        </p:spPr>
        <p:txBody>
          <a:bodyPr wrap="square" lIns="0" rIns="0" tIns="0" bIns="0" anchor="ctr">
            <a:spAutoFit/>
          </a:bodyPr>
          <a:lstStyle/>
          <a:p>
            <a:pPr algn="l"/>
            <a:r>
              <a:rPr sz="1100" b="0" i="0">
                <a:solidFill>
                  <a:srgbClr val="98A49C"/>
                </a:solidFill>
                <a:latin typeface="Menlo"/>
              </a:rPr>
              <a:t>OR 1=1 · UNION SELECT · SLEEP(5) · DROP TABLE</a:t>
            </a:r>
          </a:p>
        </p:txBody>
      </p:sp>
      <p:sp>
        <p:nvSpPr>
          <p:cNvPr id="15" name="TextBox 14"/>
          <p:cNvSpPr txBox="1"/>
          <p:nvPr/>
        </p:nvSpPr>
        <p:spPr>
          <a:xfrm>
            <a:off x="8961120" y="2743200"/>
            <a:ext cx="2743200" cy="548640"/>
          </a:xfrm>
          <a:prstGeom prst="rect">
            <a:avLst/>
          </a:prstGeom>
          <a:noFill/>
        </p:spPr>
        <p:txBody>
          <a:bodyPr wrap="square" lIns="0" rIns="0" tIns="0" bIns="0" anchor="ctr">
            <a:spAutoFit/>
          </a:bodyPr>
          <a:lstStyle/>
          <a:p>
            <a:pPr algn="r"/>
            <a:r>
              <a:rPr sz="1200" b="1" i="0">
                <a:solidFill>
                  <a:srgbClr val="3BD67A"/>
                </a:solidFill>
                <a:latin typeface="Helvetica"/>
              </a:rPr>
              <a:t>4/4 blocked</a:t>
            </a:r>
          </a:p>
        </p:txBody>
      </p:sp>
      <p:sp>
        <p:nvSpPr>
          <p:cNvPr id="16" name="Rectangle 15"/>
          <p:cNvSpPr/>
          <p:nvPr/>
        </p:nvSpPr>
        <p:spPr>
          <a:xfrm>
            <a:off x="640080" y="3383280"/>
            <a:ext cx="3108960" cy="594360"/>
          </a:xfrm>
          <a:prstGeom prst="rect">
            <a:avLst/>
          </a:prstGeom>
          <a:solidFill>
            <a:srgbClr val="0F1F17"/>
          </a:solidFill>
          <a:ln w="6350">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383280"/>
            <a:ext cx="2926080" cy="594360"/>
          </a:xfrm>
          <a:prstGeom prst="rect">
            <a:avLst/>
          </a:prstGeom>
          <a:noFill/>
        </p:spPr>
        <p:txBody>
          <a:bodyPr wrap="square" lIns="0" rIns="0" tIns="0" bIns="0" anchor="ctr">
            <a:spAutoFit/>
          </a:bodyPr>
          <a:lstStyle/>
          <a:p>
            <a:pPr algn="l"/>
            <a:r>
              <a:rPr sz="1300" b="1" i="0">
                <a:solidFill>
                  <a:srgbClr val="F4B437"/>
                </a:solidFill>
                <a:latin typeface="Helvetica"/>
              </a:rPr>
              <a:t>Wave 3 — XSS</a:t>
            </a:r>
          </a:p>
        </p:txBody>
      </p:sp>
      <p:sp>
        <p:nvSpPr>
          <p:cNvPr id="18" name="TextBox 17"/>
          <p:cNvSpPr txBox="1"/>
          <p:nvPr/>
        </p:nvSpPr>
        <p:spPr>
          <a:xfrm>
            <a:off x="3931920" y="3429000"/>
            <a:ext cx="4846320" cy="548640"/>
          </a:xfrm>
          <a:prstGeom prst="rect">
            <a:avLst/>
          </a:prstGeom>
          <a:noFill/>
        </p:spPr>
        <p:txBody>
          <a:bodyPr wrap="square" lIns="0" rIns="0" tIns="0" bIns="0" anchor="ctr">
            <a:spAutoFit/>
          </a:bodyPr>
          <a:lstStyle/>
          <a:p>
            <a:pPr algn="l"/>
            <a:r>
              <a:rPr sz="1100" b="0" i="0">
                <a:solidFill>
                  <a:srgbClr val="98A49C"/>
                </a:solidFill>
                <a:latin typeface="Menlo"/>
              </a:rPr>
              <a:t>&lt;script&gt; · &lt;img onerror&gt; · &lt;svg onload&gt;</a:t>
            </a:r>
          </a:p>
        </p:txBody>
      </p:sp>
      <p:sp>
        <p:nvSpPr>
          <p:cNvPr id="19" name="TextBox 18"/>
          <p:cNvSpPr txBox="1"/>
          <p:nvPr/>
        </p:nvSpPr>
        <p:spPr>
          <a:xfrm>
            <a:off x="8961120" y="3429000"/>
            <a:ext cx="2743200" cy="548640"/>
          </a:xfrm>
          <a:prstGeom prst="rect">
            <a:avLst/>
          </a:prstGeom>
          <a:noFill/>
        </p:spPr>
        <p:txBody>
          <a:bodyPr wrap="square" lIns="0" rIns="0" tIns="0" bIns="0" anchor="ctr">
            <a:spAutoFit/>
          </a:bodyPr>
          <a:lstStyle/>
          <a:p>
            <a:pPr algn="r"/>
            <a:r>
              <a:rPr sz="1200" b="1" i="0">
                <a:solidFill>
                  <a:srgbClr val="3BD67A"/>
                </a:solidFill>
                <a:latin typeface="Helvetica"/>
              </a:rPr>
              <a:t>3/3 blocked</a:t>
            </a:r>
          </a:p>
        </p:txBody>
      </p:sp>
      <p:sp>
        <p:nvSpPr>
          <p:cNvPr id="20" name="Rectangle 19"/>
          <p:cNvSpPr/>
          <p:nvPr/>
        </p:nvSpPr>
        <p:spPr>
          <a:xfrm>
            <a:off x="640080" y="4069080"/>
            <a:ext cx="3108960" cy="594360"/>
          </a:xfrm>
          <a:prstGeom prst="rect">
            <a:avLst/>
          </a:prstGeom>
          <a:solidFill>
            <a:srgbClr val="0F1F17"/>
          </a:solidFill>
          <a:ln w="6350">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069080"/>
            <a:ext cx="2926080" cy="594360"/>
          </a:xfrm>
          <a:prstGeom prst="rect">
            <a:avLst/>
          </a:prstGeom>
          <a:noFill/>
        </p:spPr>
        <p:txBody>
          <a:bodyPr wrap="square" lIns="0" rIns="0" tIns="0" bIns="0" anchor="ctr">
            <a:spAutoFit/>
          </a:bodyPr>
          <a:lstStyle/>
          <a:p>
            <a:pPr algn="l"/>
            <a:r>
              <a:rPr sz="1300" b="1" i="0">
                <a:solidFill>
                  <a:srgbClr val="F4B437"/>
                </a:solidFill>
                <a:latin typeface="Helvetica"/>
              </a:rPr>
              <a:t>Wave 4 — PATH_TRAV</a:t>
            </a:r>
          </a:p>
        </p:txBody>
      </p:sp>
      <p:sp>
        <p:nvSpPr>
          <p:cNvPr id="22" name="TextBox 21"/>
          <p:cNvSpPr txBox="1"/>
          <p:nvPr/>
        </p:nvSpPr>
        <p:spPr>
          <a:xfrm>
            <a:off x="3931920" y="4114800"/>
            <a:ext cx="4846320" cy="548640"/>
          </a:xfrm>
          <a:prstGeom prst="rect">
            <a:avLst/>
          </a:prstGeom>
          <a:noFill/>
        </p:spPr>
        <p:txBody>
          <a:bodyPr wrap="square" lIns="0" rIns="0" tIns="0" bIns="0" anchor="ctr">
            <a:spAutoFit/>
          </a:bodyPr>
          <a:lstStyle/>
          <a:p>
            <a:pPr algn="l"/>
            <a:r>
              <a:rPr sz="1100" b="0" i="0">
                <a:solidFill>
                  <a:srgbClr val="98A49C"/>
                </a:solidFill>
                <a:latin typeface="Menlo"/>
              </a:rPr>
              <a:t>etc/passwd · app/.env · null-byte</a:t>
            </a:r>
          </a:p>
        </p:txBody>
      </p:sp>
      <p:sp>
        <p:nvSpPr>
          <p:cNvPr id="23" name="TextBox 22"/>
          <p:cNvSpPr txBox="1"/>
          <p:nvPr/>
        </p:nvSpPr>
        <p:spPr>
          <a:xfrm>
            <a:off x="8961120" y="4114800"/>
            <a:ext cx="2743200" cy="548640"/>
          </a:xfrm>
          <a:prstGeom prst="rect">
            <a:avLst/>
          </a:prstGeom>
          <a:noFill/>
        </p:spPr>
        <p:txBody>
          <a:bodyPr wrap="square" lIns="0" rIns="0" tIns="0" bIns="0" anchor="ctr">
            <a:spAutoFit/>
          </a:bodyPr>
          <a:lstStyle/>
          <a:p>
            <a:pPr algn="r"/>
            <a:r>
              <a:rPr sz="1200" b="1" i="0">
                <a:solidFill>
                  <a:srgbClr val="3BD67A"/>
                </a:solidFill>
                <a:latin typeface="Helvetica"/>
              </a:rPr>
              <a:t>3/3 blocked</a:t>
            </a:r>
          </a:p>
        </p:txBody>
      </p:sp>
      <p:sp>
        <p:nvSpPr>
          <p:cNvPr id="24" name="Rectangle 23"/>
          <p:cNvSpPr/>
          <p:nvPr/>
        </p:nvSpPr>
        <p:spPr>
          <a:xfrm>
            <a:off x="640080" y="4754880"/>
            <a:ext cx="3108960" cy="594360"/>
          </a:xfrm>
          <a:prstGeom prst="rect">
            <a:avLst/>
          </a:prstGeom>
          <a:solidFill>
            <a:srgbClr val="0F1F17"/>
          </a:solidFill>
          <a:ln w="6350">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754880"/>
            <a:ext cx="2926080" cy="594360"/>
          </a:xfrm>
          <a:prstGeom prst="rect">
            <a:avLst/>
          </a:prstGeom>
          <a:noFill/>
        </p:spPr>
        <p:txBody>
          <a:bodyPr wrap="square" lIns="0" rIns="0" tIns="0" bIns="0" anchor="ctr">
            <a:spAutoFit/>
          </a:bodyPr>
          <a:lstStyle/>
          <a:p>
            <a:pPr algn="l"/>
            <a:r>
              <a:rPr sz="1300" b="1" i="0">
                <a:solidFill>
                  <a:srgbClr val="F4B437"/>
                </a:solidFill>
                <a:latin typeface="Helvetica"/>
              </a:rPr>
              <a:t>Wave 5 — BYPASS</a:t>
            </a:r>
          </a:p>
        </p:txBody>
      </p:sp>
      <p:sp>
        <p:nvSpPr>
          <p:cNvPr id="26" name="TextBox 25"/>
          <p:cNvSpPr txBox="1"/>
          <p:nvPr/>
        </p:nvSpPr>
        <p:spPr>
          <a:xfrm>
            <a:off x="3931920" y="4800600"/>
            <a:ext cx="4846320" cy="548640"/>
          </a:xfrm>
          <a:prstGeom prst="rect">
            <a:avLst/>
          </a:prstGeom>
          <a:noFill/>
        </p:spPr>
        <p:txBody>
          <a:bodyPr wrap="square" lIns="0" rIns="0" tIns="0" bIns="0" anchor="ctr">
            <a:spAutoFit/>
          </a:bodyPr>
          <a:lstStyle/>
          <a:p>
            <a:pPr algn="l"/>
            <a:r>
              <a:rPr sz="1100" b="0" i="0">
                <a:solidFill>
                  <a:srgbClr val="98A49C"/>
                </a:solidFill>
                <a:latin typeface="Menlo"/>
              </a:rPr>
              <a:t>X-Forwarded-For · method override · admin GET</a:t>
            </a:r>
          </a:p>
        </p:txBody>
      </p:sp>
      <p:sp>
        <p:nvSpPr>
          <p:cNvPr id="27" name="TextBox 26"/>
          <p:cNvSpPr txBox="1"/>
          <p:nvPr/>
        </p:nvSpPr>
        <p:spPr>
          <a:xfrm>
            <a:off x="8961120" y="4800600"/>
            <a:ext cx="2743200" cy="548640"/>
          </a:xfrm>
          <a:prstGeom prst="rect">
            <a:avLst/>
          </a:prstGeom>
          <a:noFill/>
        </p:spPr>
        <p:txBody>
          <a:bodyPr wrap="square" lIns="0" rIns="0" tIns="0" bIns="0" anchor="ctr">
            <a:spAutoFit/>
          </a:bodyPr>
          <a:lstStyle/>
          <a:p>
            <a:pPr algn="r"/>
            <a:r>
              <a:rPr sz="1200" b="1" i="0">
                <a:solidFill>
                  <a:srgbClr val="F4B437"/>
                </a:solidFill>
                <a:latin typeface="Helvetica"/>
              </a:rPr>
              <a:t>1/3 passed (404, no route)</a:t>
            </a:r>
          </a:p>
        </p:txBody>
      </p:sp>
      <p:sp>
        <p:nvSpPr>
          <p:cNvPr id="28" name="Rectangle 27"/>
          <p:cNvSpPr/>
          <p:nvPr/>
        </p:nvSpPr>
        <p:spPr>
          <a:xfrm>
            <a:off x="640080" y="5669280"/>
            <a:ext cx="10972800" cy="822960"/>
          </a:xfrm>
          <a:prstGeom prst="rect">
            <a:avLst/>
          </a:prstGeom>
          <a:solidFill>
            <a:srgbClr val="0F1F17"/>
          </a:solidFill>
          <a:ln w="2540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715000"/>
            <a:ext cx="10515600" cy="365760"/>
          </a:xfrm>
          <a:prstGeom prst="rect">
            <a:avLst/>
          </a:prstGeom>
          <a:noFill/>
        </p:spPr>
        <p:txBody>
          <a:bodyPr wrap="square" lIns="0" rIns="0" tIns="0" bIns="0" anchor="t">
            <a:spAutoFit/>
          </a:bodyPr>
          <a:lstStyle/>
          <a:p>
            <a:pPr algn="l"/>
            <a:r>
              <a:rPr sz="1200" b="1" i="0">
                <a:solidFill>
                  <a:srgbClr val="98A49C"/>
                </a:solidFill>
                <a:latin typeface="Helvetica"/>
              </a:rPr>
              <a:t>BLOCK RATE — honest</a:t>
            </a:r>
          </a:p>
        </p:txBody>
      </p:sp>
      <p:sp>
        <p:nvSpPr>
          <p:cNvPr id="30" name="TextBox 29"/>
          <p:cNvSpPr txBox="1"/>
          <p:nvPr/>
        </p:nvSpPr>
        <p:spPr>
          <a:xfrm>
            <a:off x="822960" y="5989320"/>
            <a:ext cx="10515600" cy="457200"/>
          </a:xfrm>
          <a:prstGeom prst="rect">
            <a:avLst/>
          </a:prstGeom>
          <a:noFill/>
        </p:spPr>
        <p:txBody>
          <a:bodyPr wrap="square" lIns="0" rIns="0" tIns="0" bIns="0" anchor="t">
            <a:spAutoFit/>
          </a:bodyPr>
          <a:lstStyle/>
          <a:p>
            <a:pPr algn="l"/>
            <a:r>
              <a:rPr sz="2200" b="1" i="0">
                <a:solidFill>
                  <a:srgbClr val="3BD67A"/>
                </a:solidFill>
                <a:latin typeface="Helvetica"/>
              </a:rPr>
              <a:t>13 / 15 = 86%   ·   0 successful exploits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The Uncomfortable Truths</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Every demo has gaps. Here are mine — on the slide, on the record.</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Rectangle 6"/>
          <p:cNvSpPr/>
          <p:nvPr/>
        </p:nvSpPr>
        <p:spPr>
          <a:xfrm>
            <a:off x="640080" y="1554480"/>
            <a:ext cx="640080" cy="82296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54480"/>
            <a:ext cx="640080" cy="822960"/>
          </a:xfrm>
          <a:prstGeom prst="rect">
            <a:avLst/>
          </a:prstGeom>
          <a:noFill/>
        </p:spPr>
        <p:txBody>
          <a:bodyPr wrap="square" lIns="0" rIns="0" tIns="0" bIns="0" anchor="ctr">
            <a:spAutoFit/>
          </a:bodyPr>
          <a:lstStyle/>
          <a:p>
            <a:pPr algn="ctr"/>
            <a:r>
              <a:rPr sz="2800" b="1" i="0">
                <a:solidFill>
                  <a:srgbClr val="0A1510"/>
                </a:solidFill>
                <a:latin typeface="Helvetica"/>
              </a:rPr>
              <a:t>1</a:t>
            </a:r>
          </a:p>
        </p:txBody>
      </p:sp>
      <p:sp>
        <p:nvSpPr>
          <p:cNvPr id="9" name="TextBox 8"/>
          <p:cNvSpPr txBox="1"/>
          <p:nvPr/>
        </p:nvSpPr>
        <p:spPr>
          <a:xfrm>
            <a:off x="1463040" y="1600200"/>
            <a:ext cx="10241280" cy="411480"/>
          </a:xfrm>
          <a:prstGeom prst="rect">
            <a:avLst/>
          </a:prstGeom>
          <a:noFill/>
        </p:spPr>
        <p:txBody>
          <a:bodyPr wrap="square" lIns="0" rIns="0" tIns="0" bIns="0" anchor="t">
            <a:spAutoFit/>
          </a:bodyPr>
          <a:lstStyle/>
          <a:p>
            <a:pPr algn="l"/>
            <a:r>
              <a:rPr sz="1600" b="1" i="0">
                <a:solidFill>
                  <a:srgbClr val="F4B437"/>
                </a:solidFill>
                <a:latin typeface="Helvetica"/>
              </a:rPr>
              <a:t>~500 DB rows leak to replica</a:t>
            </a:r>
          </a:p>
        </p:txBody>
      </p:sp>
      <p:sp>
        <p:nvSpPr>
          <p:cNvPr id="10" name="TextBox 9"/>
          <p:cNvSpPr txBox="1"/>
          <p:nvPr/>
        </p:nvSpPr>
        <p:spPr>
          <a:xfrm>
            <a:off x="1463040" y="1965960"/>
            <a:ext cx="10241280" cy="502920"/>
          </a:xfrm>
          <a:prstGeom prst="rect">
            <a:avLst/>
          </a:prstGeom>
          <a:noFill/>
        </p:spPr>
        <p:txBody>
          <a:bodyPr wrap="square" lIns="0" rIns="0" tIns="0" bIns="0" anchor="t">
            <a:spAutoFit/>
          </a:bodyPr>
          <a:lstStyle/>
          <a:p>
            <a:pPr algn="l"/>
            <a:r>
              <a:rPr sz="1200" b="0" i="1">
                <a:solidFill>
                  <a:srgbClr val="98A49C"/>
                </a:solidFill>
                <a:latin typeface="Helvetica"/>
              </a:rPr>
              <a:t>Bulk INSERT phase lands before velocity threshold fires. Demo shows detection + containment, not bleed-zero.</a:t>
            </a:r>
          </a:p>
        </p:txBody>
      </p:sp>
      <p:sp>
        <p:nvSpPr>
          <p:cNvPr id="11" name="Rectangle 10"/>
          <p:cNvSpPr/>
          <p:nvPr/>
        </p:nvSpPr>
        <p:spPr>
          <a:xfrm>
            <a:off x="640080" y="2514600"/>
            <a:ext cx="640080" cy="82296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514600"/>
            <a:ext cx="640080" cy="822960"/>
          </a:xfrm>
          <a:prstGeom prst="rect">
            <a:avLst/>
          </a:prstGeom>
          <a:noFill/>
        </p:spPr>
        <p:txBody>
          <a:bodyPr wrap="square" lIns="0" rIns="0" tIns="0" bIns="0" anchor="ctr">
            <a:spAutoFit/>
          </a:bodyPr>
          <a:lstStyle/>
          <a:p>
            <a:pPr algn="ctr"/>
            <a:r>
              <a:rPr sz="2800" b="1" i="0">
                <a:solidFill>
                  <a:srgbClr val="0A1510"/>
                </a:solidFill>
                <a:latin typeface="Helvetica"/>
              </a:rPr>
              <a:t>2</a:t>
            </a:r>
          </a:p>
        </p:txBody>
      </p:sp>
      <p:sp>
        <p:nvSpPr>
          <p:cNvPr id="13" name="TextBox 12"/>
          <p:cNvSpPr txBox="1"/>
          <p:nvPr/>
        </p:nvSpPr>
        <p:spPr>
          <a:xfrm>
            <a:off x="1463040" y="2560320"/>
            <a:ext cx="10241280" cy="411480"/>
          </a:xfrm>
          <a:prstGeom prst="rect">
            <a:avLst/>
          </a:prstGeom>
          <a:noFill/>
        </p:spPr>
        <p:txBody>
          <a:bodyPr wrap="square" lIns="0" rIns="0" tIns="0" bIns="0" anchor="t">
            <a:spAutoFit/>
          </a:bodyPr>
          <a:lstStyle/>
          <a:p>
            <a:pPr algn="l"/>
            <a:r>
              <a:rPr sz="1600" b="1" i="0">
                <a:solidFill>
                  <a:srgbClr val="F4B437"/>
                </a:solidFill>
                <a:latin typeface="Helvetica"/>
              </a:rPr>
              <a:t>Fence-and-resume, not full promote</a:t>
            </a:r>
          </a:p>
        </p:txBody>
      </p:sp>
      <p:sp>
        <p:nvSpPr>
          <p:cNvPr id="14" name="TextBox 13"/>
          <p:cNvSpPr txBox="1"/>
          <p:nvPr/>
        </p:nvSpPr>
        <p:spPr>
          <a:xfrm>
            <a:off x="1463040" y="2926080"/>
            <a:ext cx="10241280" cy="502920"/>
          </a:xfrm>
          <a:prstGeom prst="rect">
            <a:avLst/>
          </a:prstGeom>
          <a:noFill/>
        </p:spPr>
        <p:txBody>
          <a:bodyPr wrap="square" lIns="0" rIns="0" tIns="0" bIns="0" anchor="t">
            <a:spAutoFit/>
          </a:bodyPr>
          <a:lstStyle/>
          <a:p>
            <a:pPr algn="l"/>
            <a:r>
              <a:rPr sz="1200" b="0" i="1">
                <a:solidFill>
                  <a:srgbClr val="98A49C"/>
                </a:solidFill>
                <a:latin typeface="Helvetica"/>
              </a:rPr>
              <a:t>pg_wal_replay_pause is automatic. pg_ctl promote is wired but manual. Upgrade: Patroni / Stolon.</a:t>
            </a:r>
          </a:p>
        </p:txBody>
      </p:sp>
      <p:sp>
        <p:nvSpPr>
          <p:cNvPr id="15" name="Rectangle 14"/>
          <p:cNvSpPr/>
          <p:nvPr/>
        </p:nvSpPr>
        <p:spPr>
          <a:xfrm>
            <a:off x="640080" y="3474720"/>
            <a:ext cx="640080" cy="82296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474720"/>
            <a:ext cx="640080" cy="822960"/>
          </a:xfrm>
          <a:prstGeom prst="rect">
            <a:avLst/>
          </a:prstGeom>
          <a:noFill/>
        </p:spPr>
        <p:txBody>
          <a:bodyPr wrap="square" lIns="0" rIns="0" tIns="0" bIns="0" anchor="ctr">
            <a:spAutoFit/>
          </a:bodyPr>
          <a:lstStyle/>
          <a:p>
            <a:pPr algn="ctr"/>
            <a:r>
              <a:rPr sz="2800" b="1" i="0">
                <a:solidFill>
                  <a:srgbClr val="0A1510"/>
                </a:solidFill>
                <a:latin typeface="Helvetica"/>
              </a:rPr>
              <a:t>3</a:t>
            </a:r>
          </a:p>
        </p:txBody>
      </p:sp>
      <p:sp>
        <p:nvSpPr>
          <p:cNvPr id="17" name="TextBox 16"/>
          <p:cNvSpPr txBox="1"/>
          <p:nvPr/>
        </p:nvSpPr>
        <p:spPr>
          <a:xfrm>
            <a:off x="1463040" y="3520440"/>
            <a:ext cx="10241280" cy="411480"/>
          </a:xfrm>
          <a:prstGeom prst="rect">
            <a:avLst/>
          </a:prstGeom>
          <a:noFill/>
        </p:spPr>
        <p:txBody>
          <a:bodyPr wrap="square" lIns="0" rIns="0" tIns="0" bIns="0" anchor="t">
            <a:spAutoFit/>
          </a:bodyPr>
          <a:lstStyle/>
          <a:p>
            <a:pPr algn="l"/>
            <a:r>
              <a:rPr sz="1600" b="1" i="0">
                <a:solidFill>
                  <a:srgbClr val="F4B437"/>
                </a:solidFill>
                <a:latin typeface="Helvetica"/>
              </a:rPr>
              <a:t>WAF 86%, not 100%</a:t>
            </a:r>
          </a:p>
        </p:txBody>
      </p:sp>
      <p:sp>
        <p:nvSpPr>
          <p:cNvPr id="18" name="TextBox 17"/>
          <p:cNvSpPr txBox="1"/>
          <p:nvPr/>
        </p:nvSpPr>
        <p:spPr>
          <a:xfrm>
            <a:off x="1463040" y="3886200"/>
            <a:ext cx="10241280" cy="502920"/>
          </a:xfrm>
          <a:prstGeom prst="rect">
            <a:avLst/>
          </a:prstGeom>
          <a:noFill/>
        </p:spPr>
        <p:txBody>
          <a:bodyPr wrap="square" lIns="0" rIns="0" tIns="0" bIns="0" anchor="t">
            <a:spAutoFit/>
          </a:bodyPr>
          <a:lstStyle/>
          <a:p>
            <a:pPr algn="l"/>
            <a:r>
              <a:rPr sz="1200" b="0" i="1">
                <a:solidFill>
                  <a:srgbClr val="98A49C"/>
                </a:solidFill>
                <a:latin typeface="Helvetica"/>
              </a:rPr>
              <a:t>1/15 returned 404 — route didn't exist, no exploit. Classified PASSED for honesty. Zero successful exploits.</a:t>
            </a:r>
          </a:p>
        </p:txBody>
      </p:sp>
      <p:sp>
        <p:nvSpPr>
          <p:cNvPr id="19" name="Rectangle 18"/>
          <p:cNvSpPr/>
          <p:nvPr/>
        </p:nvSpPr>
        <p:spPr>
          <a:xfrm>
            <a:off x="640080" y="4434840"/>
            <a:ext cx="640080" cy="82296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434840"/>
            <a:ext cx="640080" cy="822960"/>
          </a:xfrm>
          <a:prstGeom prst="rect">
            <a:avLst/>
          </a:prstGeom>
          <a:noFill/>
        </p:spPr>
        <p:txBody>
          <a:bodyPr wrap="square" lIns="0" rIns="0" tIns="0" bIns="0" anchor="ctr">
            <a:spAutoFit/>
          </a:bodyPr>
          <a:lstStyle/>
          <a:p>
            <a:pPr algn="ctr"/>
            <a:r>
              <a:rPr sz="2800" b="1" i="0">
                <a:solidFill>
                  <a:srgbClr val="0A1510"/>
                </a:solidFill>
                <a:latin typeface="Helvetica"/>
              </a:rPr>
              <a:t>4</a:t>
            </a:r>
          </a:p>
        </p:txBody>
      </p:sp>
      <p:sp>
        <p:nvSpPr>
          <p:cNvPr id="21" name="TextBox 20"/>
          <p:cNvSpPr txBox="1"/>
          <p:nvPr/>
        </p:nvSpPr>
        <p:spPr>
          <a:xfrm>
            <a:off x="1463040" y="4480560"/>
            <a:ext cx="10241280" cy="411480"/>
          </a:xfrm>
          <a:prstGeom prst="rect">
            <a:avLst/>
          </a:prstGeom>
          <a:noFill/>
        </p:spPr>
        <p:txBody>
          <a:bodyPr wrap="square" lIns="0" rIns="0" tIns="0" bIns="0" anchor="t">
            <a:spAutoFit/>
          </a:bodyPr>
          <a:lstStyle/>
          <a:p>
            <a:pPr algn="l"/>
            <a:r>
              <a:rPr sz="1600" b="1" i="0">
                <a:solidFill>
                  <a:srgbClr val="F4B437"/>
                </a:solidFill>
                <a:latin typeface="Helvetica"/>
              </a:rPr>
              <a:t>Single-host deployment</a:t>
            </a:r>
          </a:p>
        </p:txBody>
      </p:sp>
      <p:sp>
        <p:nvSpPr>
          <p:cNvPr id="22" name="TextBox 21"/>
          <p:cNvSpPr txBox="1"/>
          <p:nvPr/>
        </p:nvSpPr>
        <p:spPr>
          <a:xfrm>
            <a:off x="1463040" y="4846320"/>
            <a:ext cx="10241280" cy="502920"/>
          </a:xfrm>
          <a:prstGeom prst="rect">
            <a:avLst/>
          </a:prstGeom>
          <a:noFill/>
        </p:spPr>
        <p:txBody>
          <a:bodyPr wrap="square" lIns="0" rIns="0" tIns="0" bIns="0" anchor="t">
            <a:spAutoFit/>
          </a:bodyPr>
          <a:lstStyle/>
          <a:p>
            <a:pPr algn="l"/>
            <a:r>
              <a:rPr sz="1200" b="0" i="1">
                <a:solidFill>
                  <a:srgbClr val="98A49C"/>
                </a:solidFill>
                <a:latin typeface="Helvetica"/>
              </a:rPr>
              <a:t>Five containers on one MacBook. Sub-second MTTR partly loopback. Production: multi-AZ, real network.</a:t>
            </a:r>
          </a:p>
        </p:txBody>
      </p:sp>
      <p:sp>
        <p:nvSpPr>
          <p:cNvPr id="23" name="Rectangle 22"/>
          <p:cNvSpPr/>
          <p:nvPr/>
        </p:nvSpPr>
        <p:spPr>
          <a:xfrm>
            <a:off x="640080" y="5394960"/>
            <a:ext cx="640080" cy="822960"/>
          </a:xfrm>
          <a:prstGeom prst="rect">
            <a:avLst/>
          </a:prstGeom>
          <a:solidFill>
            <a:srgbClr val="F4B437"/>
          </a:solidFill>
          <a:ln>
            <a:solidFill>
              <a:srgbClr val="F4B4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394960"/>
            <a:ext cx="640080" cy="822960"/>
          </a:xfrm>
          <a:prstGeom prst="rect">
            <a:avLst/>
          </a:prstGeom>
          <a:noFill/>
        </p:spPr>
        <p:txBody>
          <a:bodyPr wrap="square" lIns="0" rIns="0" tIns="0" bIns="0" anchor="ctr">
            <a:spAutoFit/>
          </a:bodyPr>
          <a:lstStyle/>
          <a:p>
            <a:pPr algn="ctr"/>
            <a:r>
              <a:rPr sz="2800" b="1" i="0">
                <a:solidFill>
                  <a:srgbClr val="0A1510"/>
                </a:solidFill>
                <a:latin typeface="Helvetica"/>
              </a:rPr>
              <a:t>5</a:t>
            </a:r>
          </a:p>
        </p:txBody>
      </p:sp>
      <p:sp>
        <p:nvSpPr>
          <p:cNvPr id="25" name="TextBox 24"/>
          <p:cNvSpPr txBox="1"/>
          <p:nvPr/>
        </p:nvSpPr>
        <p:spPr>
          <a:xfrm>
            <a:off x="1463040" y="5440680"/>
            <a:ext cx="10241280" cy="411480"/>
          </a:xfrm>
          <a:prstGeom prst="rect">
            <a:avLst/>
          </a:prstGeom>
          <a:noFill/>
        </p:spPr>
        <p:txBody>
          <a:bodyPr wrap="square" lIns="0" rIns="0" tIns="0" bIns="0" anchor="t">
            <a:spAutoFit/>
          </a:bodyPr>
          <a:lstStyle/>
          <a:p>
            <a:pPr algn="l"/>
            <a:r>
              <a:rPr sz="1600" b="1" i="0">
                <a:solidFill>
                  <a:srgbClr val="F4B437"/>
                </a:solidFill>
                <a:latin typeface="Helvetica"/>
              </a:rPr>
              <a:t>Golden image supply-chain</a:t>
            </a:r>
          </a:p>
        </p:txBody>
      </p:sp>
      <p:sp>
        <p:nvSpPr>
          <p:cNvPr id="26" name="TextBox 25"/>
          <p:cNvSpPr txBox="1"/>
          <p:nvPr/>
        </p:nvSpPr>
        <p:spPr>
          <a:xfrm>
            <a:off x="1463040" y="5806440"/>
            <a:ext cx="10241280" cy="502920"/>
          </a:xfrm>
          <a:prstGeom prst="rect">
            <a:avLst/>
          </a:prstGeom>
          <a:noFill/>
        </p:spPr>
        <p:txBody>
          <a:bodyPr wrap="square" lIns="0" rIns="0" tIns="0" bIns="0" anchor="t">
            <a:spAutoFit/>
          </a:bodyPr>
          <a:lstStyle/>
          <a:p>
            <a:pPr algn="l"/>
            <a:r>
              <a:rPr sz="1200" b="0" i="1">
                <a:solidFill>
                  <a:srgbClr val="98A49C"/>
                </a:solidFill>
                <a:latin typeface="Helvetica"/>
              </a:rPr>
              <a:t>Poisoned image means every respawn ships poisoned. Needs cosign + SBOM + signed registries (CTF L4).</a:t>
            </a:r>
          </a:p>
        </p:txBody>
      </p:sp>
      <p:sp>
        <p:nvSpPr>
          <p:cNvPr id="27" name="TextBox 26"/>
          <p:cNvSpPr txBox="1"/>
          <p:nvPr/>
        </p:nvSpPr>
        <p:spPr>
          <a:xfrm>
            <a:off x="640080" y="6400800"/>
            <a:ext cx="10972800" cy="274320"/>
          </a:xfrm>
          <a:prstGeom prst="rect">
            <a:avLst/>
          </a:prstGeom>
          <a:noFill/>
        </p:spPr>
        <p:txBody>
          <a:bodyPr wrap="square" lIns="0" rIns="0" tIns="0" bIns="0" anchor="t">
            <a:spAutoFit/>
          </a:bodyPr>
          <a:lstStyle/>
          <a:p>
            <a:pPr algn="ctr"/>
            <a:r>
              <a:rPr sz="1100" b="0" i="1">
                <a:solidFill>
                  <a:srgbClr val="98A49C"/>
                </a:solidFill>
                <a:latin typeface="Helvetica"/>
              </a:rPr>
              <a:t>"If I erased the gaps, I'd also be erasing the point of this talk."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The Architectural Bet</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One decision makes sub-second recovery possible</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TextBox 6"/>
          <p:cNvSpPr txBox="1"/>
          <p:nvPr/>
        </p:nvSpPr>
        <p:spPr>
          <a:xfrm>
            <a:off x="640080" y="1645920"/>
            <a:ext cx="10972800" cy="914400"/>
          </a:xfrm>
          <a:prstGeom prst="rect">
            <a:avLst/>
          </a:prstGeom>
          <a:noFill/>
        </p:spPr>
        <p:txBody>
          <a:bodyPr wrap="square" lIns="0" rIns="0" tIns="0" bIns="0" anchor="t">
            <a:spAutoFit/>
          </a:bodyPr>
          <a:lstStyle/>
          <a:p>
            <a:pPr algn="ctr"/>
            <a:r>
              <a:rPr sz="2200" b="0" i="1">
                <a:solidFill>
                  <a:srgbClr val="E8F0EA"/>
                </a:solidFill>
                <a:latin typeface="Helvetica"/>
              </a:rPr>
              <a:t>"The application is baked into the Docker image at build time."</a:t>
            </a:r>
          </a:p>
          <a:p>
            <a:pPr algn="ctr"/>
            <a:r>
              <a:rPr sz="2200" b="0" i="1">
                <a:solidFill>
                  <a:srgbClr val="E8F0EA"/>
                </a:solidFill>
                <a:latin typeface="Helvetica"/>
              </a:rPr>
              <a:t>"Not mounted at runtime."</a:t>
            </a:r>
          </a:p>
        </p:txBody>
      </p:sp>
      <p:sp>
        <p:nvSpPr>
          <p:cNvPr id="8" name="Rectangle 7"/>
          <p:cNvSpPr/>
          <p:nvPr/>
        </p:nvSpPr>
        <p:spPr>
          <a:xfrm>
            <a:off x="640080" y="3200400"/>
            <a:ext cx="5394960" cy="2743200"/>
          </a:xfrm>
          <a:prstGeom prst="rect">
            <a:avLst/>
          </a:prstGeom>
          <a:solidFill>
            <a:srgbClr val="0F1F17"/>
          </a:solidFill>
          <a:ln w="12700">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291840"/>
            <a:ext cx="5394960" cy="457200"/>
          </a:xfrm>
          <a:prstGeom prst="rect">
            <a:avLst/>
          </a:prstGeom>
          <a:noFill/>
        </p:spPr>
        <p:txBody>
          <a:bodyPr wrap="square" lIns="0" rIns="0" tIns="0" bIns="0" anchor="t">
            <a:spAutoFit/>
          </a:bodyPr>
          <a:lstStyle/>
          <a:p>
            <a:pPr algn="ctr"/>
            <a:r>
              <a:rPr sz="1500" b="1" i="0">
                <a:solidFill>
                  <a:srgbClr val="E54242"/>
                </a:solidFill>
                <a:latin typeface="Helvetica"/>
              </a:rPr>
              <a:t>MUTABLE (the old pattern)</a:t>
            </a:r>
          </a:p>
        </p:txBody>
      </p:sp>
      <p:sp>
        <p:nvSpPr>
          <p:cNvPr id="10" name="TextBox 9"/>
          <p:cNvSpPr txBox="1"/>
          <p:nvPr/>
        </p:nvSpPr>
        <p:spPr>
          <a:xfrm>
            <a:off x="822960" y="3840480"/>
            <a:ext cx="5029200" cy="2286000"/>
          </a:xfrm>
          <a:prstGeom prst="rect">
            <a:avLst/>
          </a:prstGeom>
          <a:noFill/>
        </p:spPr>
        <p:txBody>
          <a:bodyPr wrap="square" lIns="0" rIns="0" tIns="0" bIns="0" anchor="t">
            <a:spAutoFit/>
          </a:bodyPr>
          <a:lstStyle/>
          <a:p>
            <a:pPr algn="l"/>
            <a:r>
              <a:rPr sz="1300" b="0" i="0">
                <a:solidFill>
                  <a:srgbClr val="E8F0EA"/>
                </a:solidFill>
                <a:latin typeface="Helvetica"/>
              </a:rPr>
              <a:t>• VM provisioned with Ansible</a:t>
            </a:r>
          </a:p>
          <a:p>
            <a:pPr algn="l"/>
            <a:r>
              <a:rPr sz="1300" b="0" i="0">
                <a:solidFill>
                  <a:srgbClr val="E8F0EA"/>
                </a:solidFill>
                <a:latin typeface="Helvetica"/>
              </a:rPr>
              <a:t>• Packages upgraded in place</a:t>
            </a:r>
          </a:p>
          <a:p>
            <a:pPr algn="l"/>
            <a:r>
              <a:rPr sz="1300" b="0" i="0">
                <a:solidFill>
                  <a:srgbClr val="E8F0EA"/>
                </a:solidFill>
                <a:latin typeface="Helvetica"/>
              </a:rPr>
              <a:t>• Config edited with ssh</a:t>
            </a:r>
          </a:p>
          <a:p>
            <a:pPr algn="l"/>
            <a:r>
              <a:rPr sz="1300" b="0" i="0">
                <a:solidFill>
                  <a:srgbClr val="E8F0EA"/>
                </a:solidFill>
                <a:latin typeface="Helvetica"/>
              </a:rPr>
              <a:t>• Attacker's rm survives</a:t>
            </a:r>
          </a:p>
          <a:p>
            <a:pPr algn="l"/>
            <a:r>
              <a:rPr sz="1300" b="0" i="0">
                <a:solidFill>
                  <a:srgbClr val="E8F0EA"/>
                </a:solidFill>
                <a:latin typeface="Helvetica"/>
              </a:rPr>
              <a:t>• 'Clean rebuild' = 4 hours</a:t>
            </a:r>
          </a:p>
          <a:p>
            <a:pPr algn="l"/>
            <a:r>
              <a:rPr sz="1300" b="0" i="0">
                <a:solidFill>
                  <a:srgbClr val="E8F0EA"/>
                </a:solidFill>
                <a:latin typeface="Helvetica"/>
              </a:rPr>
              <a:t>• Nobody knows what's on disk</a:t>
            </a:r>
          </a:p>
        </p:txBody>
      </p:sp>
      <p:sp>
        <p:nvSpPr>
          <p:cNvPr id="11" name="Rectangle 10"/>
          <p:cNvSpPr/>
          <p:nvPr/>
        </p:nvSpPr>
        <p:spPr>
          <a:xfrm>
            <a:off x="6309360" y="3200400"/>
            <a:ext cx="5394960" cy="2743200"/>
          </a:xfrm>
          <a:prstGeom prst="rect">
            <a:avLst/>
          </a:prstGeom>
          <a:solidFill>
            <a:srgbClr val="0F1F17"/>
          </a:solidFill>
          <a:ln w="1270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291840"/>
            <a:ext cx="5394960" cy="457200"/>
          </a:xfrm>
          <a:prstGeom prst="rect">
            <a:avLst/>
          </a:prstGeom>
          <a:noFill/>
        </p:spPr>
        <p:txBody>
          <a:bodyPr wrap="square" lIns="0" rIns="0" tIns="0" bIns="0" anchor="t">
            <a:spAutoFit/>
          </a:bodyPr>
          <a:lstStyle/>
          <a:p>
            <a:pPr algn="ctr"/>
            <a:r>
              <a:rPr sz="1500" b="1" i="0">
                <a:solidFill>
                  <a:srgbClr val="3BD67A"/>
                </a:solidFill>
                <a:latin typeface="Helvetica"/>
              </a:rPr>
              <a:t>IMMUTABLE (Demo-3)</a:t>
            </a:r>
          </a:p>
        </p:txBody>
      </p:sp>
      <p:sp>
        <p:nvSpPr>
          <p:cNvPr id="13" name="TextBox 12"/>
          <p:cNvSpPr txBox="1"/>
          <p:nvPr/>
        </p:nvSpPr>
        <p:spPr>
          <a:xfrm>
            <a:off x="6492240" y="3840480"/>
            <a:ext cx="5029200" cy="2286000"/>
          </a:xfrm>
          <a:prstGeom prst="rect">
            <a:avLst/>
          </a:prstGeom>
          <a:noFill/>
        </p:spPr>
        <p:txBody>
          <a:bodyPr wrap="square" lIns="0" rIns="0" tIns="0" bIns="0" anchor="t">
            <a:spAutoFit/>
          </a:bodyPr>
          <a:lstStyle/>
          <a:p>
            <a:pPr algn="l"/>
            <a:r>
              <a:rPr sz="1300" b="0" i="0">
                <a:solidFill>
                  <a:srgbClr val="E8F0EA"/>
                </a:solidFill>
                <a:latin typeface="Helvetica"/>
              </a:rPr>
              <a:t>• Container from :golden tag</a:t>
            </a:r>
          </a:p>
          <a:p>
            <a:pPr algn="l"/>
            <a:r>
              <a:rPr sz="1300" b="0" i="0">
                <a:solidFill>
                  <a:srgbClr val="E8F0EA"/>
                </a:solidFill>
                <a:latin typeface="Helvetica"/>
              </a:rPr>
              <a:t>• No runtime modifications</a:t>
            </a:r>
          </a:p>
          <a:p>
            <a:pPr algn="l"/>
            <a:r>
              <a:rPr sz="1300" b="0" i="0">
                <a:solidFill>
                  <a:srgbClr val="E8F0EA"/>
                </a:solidFill>
                <a:latin typeface="Helvetica"/>
              </a:rPr>
              <a:t>• Attacker's rm destroyed on respawn</a:t>
            </a:r>
          </a:p>
          <a:p>
            <a:pPr algn="l"/>
            <a:r>
              <a:rPr sz="1300" b="0" i="0">
                <a:solidFill>
                  <a:srgbClr val="E8F0EA"/>
                </a:solidFill>
                <a:latin typeface="Helvetica"/>
              </a:rPr>
              <a:t>• 'Clean rebuild' = 0.6 seconds</a:t>
            </a:r>
          </a:p>
          <a:p>
            <a:pPr algn="l"/>
            <a:r>
              <a:rPr sz="1300" b="0" i="0">
                <a:solidFill>
                  <a:srgbClr val="E8F0EA"/>
                </a:solidFill>
                <a:latin typeface="Helvetica"/>
              </a:rPr>
              <a:t>• Disk state = image layer</a:t>
            </a:r>
          </a:p>
          <a:p>
            <a:pPr algn="l"/>
            <a:r>
              <a:rPr sz="1300" b="0" i="0">
                <a:solidFill>
                  <a:srgbClr val="E8F0EA"/>
                </a:solidFill>
                <a:latin typeface="Helvetica"/>
              </a:rPr>
              <a:t>• Registry is the source of truth</a:t>
            </a:r>
          </a:p>
        </p:txBody>
      </p:sp>
      <p:sp>
        <p:nvSpPr>
          <p:cNvPr id="14" name="TextBox 13"/>
          <p:cNvSpPr txBox="1"/>
          <p:nvPr/>
        </p:nvSpPr>
        <p:spPr>
          <a:xfrm>
            <a:off x="640080" y="6126480"/>
            <a:ext cx="10972800" cy="365760"/>
          </a:xfrm>
          <a:prstGeom prst="rect">
            <a:avLst/>
          </a:prstGeom>
          <a:noFill/>
        </p:spPr>
        <p:txBody>
          <a:bodyPr wrap="square" lIns="0" rIns="0" tIns="0" bIns="0" anchor="t">
            <a:spAutoFit/>
          </a:bodyPr>
          <a:lstStyle/>
          <a:p>
            <a:pPr algn="ctr"/>
            <a:r>
              <a:rPr sz="1400" b="0" i="1">
                <a:solidFill>
                  <a:srgbClr val="3BD67A"/>
                </a:solidFill>
                <a:latin typeface="Helvetica"/>
              </a:rPr>
              <a:t>Immutability is not a security feature. It is a foundational architectural decision.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The Shift</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From 'prevent the win' to 'make the win temporary'</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TextBox 6"/>
          <p:cNvSpPr txBox="1"/>
          <p:nvPr/>
        </p:nvSpPr>
        <p:spPr>
          <a:xfrm>
            <a:off x="640080" y="1645920"/>
            <a:ext cx="10972800" cy="1371600"/>
          </a:xfrm>
          <a:prstGeom prst="rect">
            <a:avLst/>
          </a:prstGeom>
          <a:noFill/>
        </p:spPr>
        <p:txBody>
          <a:bodyPr wrap="square" lIns="0" rIns="0" tIns="0" bIns="0" anchor="t">
            <a:spAutoFit/>
          </a:bodyPr>
          <a:lstStyle/>
          <a:p>
            <a:pPr algn="ctr"/>
            <a:r>
              <a:rPr sz="4000" b="0" i="1">
                <a:solidFill>
                  <a:srgbClr val="98A49C"/>
                </a:solidFill>
                <a:latin typeface="Helvetica"/>
              </a:rPr>
              <a:t>Stop trying to prevent the win.</a:t>
            </a:r>
          </a:p>
        </p:txBody>
      </p:sp>
      <p:sp>
        <p:nvSpPr>
          <p:cNvPr id="8" name="TextBox 7"/>
          <p:cNvSpPr txBox="1"/>
          <p:nvPr/>
        </p:nvSpPr>
        <p:spPr>
          <a:xfrm>
            <a:off x="640080" y="3017520"/>
            <a:ext cx="10972800" cy="1371600"/>
          </a:xfrm>
          <a:prstGeom prst="rect">
            <a:avLst/>
          </a:prstGeom>
          <a:noFill/>
        </p:spPr>
        <p:txBody>
          <a:bodyPr wrap="square" lIns="0" rIns="0" tIns="0" bIns="0" anchor="t">
            <a:spAutoFit/>
          </a:bodyPr>
          <a:lstStyle/>
          <a:p>
            <a:pPr algn="ctr"/>
            <a:r>
              <a:rPr sz="5400" b="1" i="0">
                <a:solidFill>
                  <a:srgbClr val="3BD67A"/>
                </a:solidFill>
                <a:latin typeface="Helvetica"/>
              </a:rPr>
              <a:t>Make the win temporary.</a:t>
            </a:r>
          </a:p>
        </p:txBody>
      </p:sp>
      <p:sp>
        <p:nvSpPr>
          <p:cNvPr id="9" name="TextBox 8"/>
          <p:cNvSpPr txBox="1"/>
          <p:nvPr/>
        </p:nvSpPr>
        <p:spPr>
          <a:xfrm>
            <a:off x="640080" y="5029200"/>
            <a:ext cx="10972800" cy="548640"/>
          </a:xfrm>
          <a:prstGeom prst="rect">
            <a:avLst/>
          </a:prstGeom>
          <a:noFill/>
        </p:spPr>
        <p:txBody>
          <a:bodyPr wrap="square" lIns="0" rIns="0" tIns="0" bIns="0" anchor="t">
            <a:spAutoFit/>
          </a:bodyPr>
          <a:lstStyle/>
          <a:p>
            <a:pPr algn="ctr"/>
            <a:r>
              <a:rPr sz="2000" b="0" i="0">
                <a:solidFill>
                  <a:srgbClr val="E8F0EA"/>
                </a:solidFill>
                <a:latin typeface="Helvetica"/>
              </a:rPr>
              <a:t>Fail gracefully. Respawn faster than they can pivot.</a:t>
            </a:r>
          </a:p>
        </p:txBody>
      </p:sp>
      <p:sp>
        <p:nvSpPr>
          <p:cNvPr id="10" name="TextBox 9"/>
          <p:cNvSpPr txBox="1"/>
          <p:nvPr/>
        </p:nvSpPr>
        <p:spPr>
          <a:xfrm>
            <a:off x="640080" y="5669280"/>
            <a:ext cx="10972800" cy="457200"/>
          </a:xfrm>
          <a:prstGeom prst="rect">
            <a:avLst/>
          </a:prstGeom>
          <a:noFill/>
        </p:spPr>
        <p:txBody>
          <a:bodyPr wrap="square" lIns="0" rIns="0" tIns="0" bIns="0" anchor="t">
            <a:spAutoFit/>
          </a:bodyPr>
          <a:lstStyle/>
          <a:p>
            <a:pPr algn="ctr"/>
            <a:r>
              <a:rPr sz="1600" b="0" i="1">
                <a:solidFill>
                  <a:srgbClr val="98A49C"/>
                </a:solidFill>
                <a:latin typeface="Helvetica"/>
              </a:rPr>
              <a:t>That is the only defence that scales.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For CISOs — Change the Dashboard</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Remove the vanity metrics. Add the ones that determine whether the business survives.</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Rectangle 6"/>
          <p:cNvSpPr/>
          <p:nvPr/>
        </p:nvSpPr>
        <p:spPr>
          <a:xfrm>
            <a:off x="640080" y="1554480"/>
            <a:ext cx="5394960" cy="4754880"/>
          </a:xfrm>
          <a:prstGeom prst="rect">
            <a:avLst/>
          </a:prstGeom>
          <a:solidFill>
            <a:srgbClr val="0F1F17"/>
          </a:solidFill>
          <a:ln w="12700">
            <a:solidFill>
              <a:srgbClr val="E542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45920"/>
            <a:ext cx="5394960" cy="457200"/>
          </a:xfrm>
          <a:prstGeom prst="rect">
            <a:avLst/>
          </a:prstGeom>
          <a:noFill/>
        </p:spPr>
        <p:txBody>
          <a:bodyPr wrap="square" lIns="0" rIns="0" tIns="0" bIns="0" anchor="t">
            <a:spAutoFit/>
          </a:bodyPr>
          <a:lstStyle/>
          <a:p>
            <a:pPr algn="ctr"/>
            <a:r>
              <a:rPr sz="1800" b="1" i="0">
                <a:solidFill>
                  <a:srgbClr val="E54242"/>
                </a:solidFill>
                <a:latin typeface="Helvetica"/>
              </a:rPr>
              <a:t>REMOVE</a:t>
            </a:r>
          </a:p>
        </p:txBody>
      </p:sp>
      <p:sp>
        <p:nvSpPr>
          <p:cNvPr id="9" name="TextBox 8"/>
          <p:cNvSpPr txBox="1"/>
          <p:nvPr/>
        </p:nvSpPr>
        <p:spPr>
          <a:xfrm>
            <a:off x="914400" y="2194560"/>
            <a:ext cx="5029200" cy="457200"/>
          </a:xfrm>
          <a:prstGeom prst="rect">
            <a:avLst/>
          </a:prstGeom>
          <a:noFill/>
        </p:spPr>
        <p:txBody>
          <a:bodyPr wrap="square" lIns="0" rIns="0" tIns="0" bIns="0" anchor="t">
            <a:spAutoFit/>
          </a:bodyPr>
          <a:lstStyle/>
          <a:p>
            <a:pPr algn="l"/>
            <a:r>
              <a:rPr sz="1300" b="0" i="0">
                <a:solidFill>
                  <a:srgbClr val="E8F0EA"/>
                </a:solidFill>
                <a:latin typeface="Helvetica"/>
              </a:rPr>
              <a:t>✗  Attacks blocked (vanity)</a:t>
            </a:r>
          </a:p>
        </p:txBody>
      </p:sp>
      <p:sp>
        <p:nvSpPr>
          <p:cNvPr id="10" name="TextBox 9"/>
          <p:cNvSpPr txBox="1"/>
          <p:nvPr/>
        </p:nvSpPr>
        <p:spPr>
          <a:xfrm>
            <a:off x="914400" y="2788920"/>
            <a:ext cx="5029200" cy="457200"/>
          </a:xfrm>
          <a:prstGeom prst="rect">
            <a:avLst/>
          </a:prstGeom>
          <a:noFill/>
        </p:spPr>
        <p:txBody>
          <a:bodyPr wrap="square" lIns="0" rIns="0" tIns="0" bIns="0" anchor="t">
            <a:spAutoFit/>
          </a:bodyPr>
          <a:lstStyle/>
          <a:p>
            <a:pPr algn="l"/>
            <a:r>
              <a:rPr sz="1300" b="0" i="0">
                <a:solidFill>
                  <a:srgbClr val="E8F0EA"/>
                </a:solidFill>
                <a:latin typeface="Helvetica"/>
              </a:rPr>
              <a:t>✗  Patches applied (activity, not outcome)</a:t>
            </a:r>
          </a:p>
        </p:txBody>
      </p:sp>
      <p:sp>
        <p:nvSpPr>
          <p:cNvPr id="11" name="TextBox 10"/>
          <p:cNvSpPr txBox="1"/>
          <p:nvPr/>
        </p:nvSpPr>
        <p:spPr>
          <a:xfrm>
            <a:off x="914400" y="3383280"/>
            <a:ext cx="5029200" cy="457200"/>
          </a:xfrm>
          <a:prstGeom prst="rect">
            <a:avLst/>
          </a:prstGeom>
          <a:noFill/>
        </p:spPr>
        <p:txBody>
          <a:bodyPr wrap="square" lIns="0" rIns="0" tIns="0" bIns="0" anchor="t">
            <a:spAutoFit/>
          </a:bodyPr>
          <a:lstStyle/>
          <a:p>
            <a:pPr algn="l"/>
            <a:r>
              <a:rPr sz="1300" b="0" i="0">
                <a:solidFill>
                  <a:srgbClr val="E8F0EA"/>
                </a:solidFill>
                <a:latin typeface="Helvetica"/>
              </a:rPr>
              <a:t>✗  CVEs closed (lagging, not leading)</a:t>
            </a:r>
          </a:p>
        </p:txBody>
      </p:sp>
      <p:sp>
        <p:nvSpPr>
          <p:cNvPr id="12" name="TextBox 11"/>
          <p:cNvSpPr txBox="1"/>
          <p:nvPr/>
        </p:nvSpPr>
        <p:spPr>
          <a:xfrm>
            <a:off x="914400" y="3977639"/>
            <a:ext cx="5029200" cy="457200"/>
          </a:xfrm>
          <a:prstGeom prst="rect">
            <a:avLst/>
          </a:prstGeom>
          <a:noFill/>
        </p:spPr>
        <p:txBody>
          <a:bodyPr wrap="square" lIns="0" rIns="0" tIns="0" bIns="0" anchor="t">
            <a:spAutoFit/>
          </a:bodyPr>
          <a:lstStyle/>
          <a:p>
            <a:pPr algn="l"/>
            <a:r>
              <a:rPr sz="1300" b="0" i="0">
                <a:solidFill>
                  <a:srgbClr val="E8F0EA"/>
                </a:solidFill>
                <a:latin typeface="Helvetica"/>
              </a:rPr>
              <a:t>✗  99.9% uptime SLA (aggregate, hides MTTR)</a:t>
            </a:r>
          </a:p>
        </p:txBody>
      </p:sp>
      <p:sp>
        <p:nvSpPr>
          <p:cNvPr id="13" name="TextBox 12"/>
          <p:cNvSpPr txBox="1"/>
          <p:nvPr/>
        </p:nvSpPr>
        <p:spPr>
          <a:xfrm>
            <a:off x="914400" y="4572000"/>
            <a:ext cx="5029200" cy="457200"/>
          </a:xfrm>
          <a:prstGeom prst="rect">
            <a:avLst/>
          </a:prstGeom>
          <a:noFill/>
        </p:spPr>
        <p:txBody>
          <a:bodyPr wrap="square" lIns="0" rIns="0" tIns="0" bIns="0" anchor="t">
            <a:spAutoFit/>
          </a:bodyPr>
          <a:lstStyle/>
          <a:p>
            <a:pPr algn="l"/>
            <a:r>
              <a:rPr sz="1300" b="0" i="0">
                <a:solidFill>
                  <a:srgbClr val="E8F0EA"/>
                </a:solidFill>
                <a:latin typeface="Helvetica"/>
              </a:rPr>
              <a:t>✗  Audit pass-rate (binary, not quantitative)</a:t>
            </a:r>
          </a:p>
        </p:txBody>
      </p:sp>
      <p:sp>
        <p:nvSpPr>
          <p:cNvPr id="14" name="TextBox 13"/>
          <p:cNvSpPr txBox="1"/>
          <p:nvPr/>
        </p:nvSpPr>
        <p:spPr>
          <a:xfrm>
            <a:off x="914400" y="5166360"/>
            <a:ext cx="5029200" cy="457200"/>
          </a:xfrm>
          <a:prstGeom prst="rect">
            <a:avLst/>
          </a:prstGeom>
          <a:noFill/>
        </p:spPr>
        <p:txBody>
          <a:bodyPr wrap="square" lIns="0" rIns="0" tIns="0" bIns="0" anchor="t">
            <a:spAutoFit/>
          </a:bodyPr>
          <a:lstStyle/>
          <a:p>
            <a:pPr algn="l"/>
            <a:r>
              <a:rPr sz="1300" b="0" i="0">
                <a:solidFill>
                  <a:srgbClr val="E8F0EA"/>
                </a:solidFill>
                <a:latin typeface="Helvetica"/>
              </a:rPr>
              <a:t>✗  'Ask risk' (no dollar anchor)</a:t>
            </a:r>
          </a:p>
        </p:txBody>
      </p:sp>
      <p:sp>
        <p:nvSpPr>
          <p:cNvPr id="15" name="Rectangle 14"/>
          <p:cNvSpPr/>
          <p:nvPr/>
        </p:nvSpPr>
        <p:spPr>
          <a:xfrm>
            <a:off x="6400800" y="1554480"/>
            <a:ext cx="5394960" cy="4754880"/>
          </a:xfrm>
          <a:prstGeom prst="rect">
            <a:avLst/>
          </a:prstGeom>
          <a:solidFill>
            <a:srgbClr val="0F1F17"/>
          </a:solidFill>
          <a:ln w="12700">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645920"/>
            <a:ext cx="5394960" cy="457200"/>
          </a:xfrm>
          <a:prstGeom prst="rect">
            <a:avLst/>
          </a:prstGeom>
          <a:noFill/>
        </p:spPr>
        <p:txBody>
          <a:bodyPr wrap="square" lIns="0" rIns="0" tIns="0" bIns="0" anchor="t">
            <a:spAutoFit/>
          </a:bodyPr>
          <a:lstStyle/>
          <a:p>
            <a:pPr algn="ctr"/>
            <a:r>
              <a:rPr sz="1800" b="1" i="0">
                <a:solidFill>
                  <a:srgbClr val="3BD67A"/>
                </a:solidFill>
                <a:latin typeface="Helvetica"/>
              </a:rPr>
              <a:t>ADD</a:t>
            </a:r>
          </a:p>
        </p:txBody>
      </p:sp>
      <p:sp>
        <p:nvSpPr>
          <p:cNvPr id="17" name="TextBox 16"/>
          <p:cNvSpPr txBox="1"/>
          <p:nvPr/>
        </p:nvSpPr>
        <p:spPr>
          <a:xfrm>
            <a:off x="6675120" y="2194560"/>
            <a:ext cx="5029200" cy="457200"/>
          </a:xfrm>
          <a:prstGeom prst="rect">
            <a:avLst/>
          </a:prstGeom>
          <a:noFill/>
        </p:spPr>
        <p:txBody>
          <a:bodyPr wrap="square" lIns="0" rIns="0" tIns="0" bIns="0" anchor="t">
            <a:spAutoFit/>
          </a:bodyPr>
          <a:lstStyle/>
          <a:p>
            <a:pPr algn="l"/>
            <a:r>
              <a:rPr sz="1300" b="0" i="0">
                <a:solidFill>
                  <a:srgbClr val="E8F0EA"/>
                </a:solidFill>
                <a:latin typeface="Helvetica"/>
              </a:rPr>
              <a:t>✓  B — Bleed Rate per Tier-1 service ($/min)</a:t>
            </a:r>
          </a:p>
        </p:txBody>
      </p:sp>
      <p:sp>
        <p:nvSpPr>
          <p:cNvPr id="18" name="TextBox 17"/>
          <p:cNvSpPr txBox="1"/>
          <p:nvPr/>
        </p:nvSpPr>
        <p:spPr>
          <a:xfrm>
            <a:off x="6675120" y="2788920"/>
            <a:ext cx="5029200" cy="457200"/>
          </a:xfrm>
          <a:prstGeom prst="rect">
            <a:avLst/>
          </a:prstGeom>
          <a:noFill/>
        </p:spPr>
        <p:txBody>
          <a:bodyPr wrap="square" lIns="0" rIns="0" tIns="0" bIns="0" anchor="t">
            <a:spAutoFit/>
          </a:bodyPr>
          <a:lstStyle/>
          <a:p>
            <a:pPr algn="l"/>
            <a:r>
              <a:rPr sz="1300" b="0" i="0">
                <a:solidFill>
                  <a:srgbClr val="E8F0EA"/>
                </a:solidFill>
                <a:latin typeface="Helvetica"/>
              </a:rPr>
              <a:t>✓  V — Attacker Velocity (seconds to impact)</a:t>
            </a:r>
          </a:p>
        </p:txBody>
      </p:sp>
      <p:sp>
        <p:nvSpPr>
          <p:cNvPr id="19" name="TextBox 18"/>
          <p:cNvSpPr txBox="1"/>
          <p:nvPr/>
        </p:nvSpPr>
        <p:spPr>
          <a:xfrm>
            <a:off x="6675120" y="3383280"/>
            <a:ext cx="5029200" cy="457200"/>
          </a:xfrm>
          <a:prstGeom prst="rect">
            <a:avLst/>
          </a:prstGeom>
          <a:noFill/>
        </p:spPr>
        <p:txBody>
          <a:bodyPr wrap="square" lIns="0" rIns="0" tIns="0" bIns="0" anchor="t">
            <a:spAutoFit/>
          </a:bodyPr>
          <a:lstStyle/>
          <a:p>
            <a:pPr algn="l"/>
            <a:r>
              <a:rPr sz="1300" b="0" i="0">
                <a:solidFill>
                  <a:srgbClr val="E8F0EA"/>
                </a:solidFill>
                <a:latin typeface="Helvetica"/>
              </a:rPr>
              <a:t>✓  R₁ R₂ R₃ — MTTR per tier (measured)</a:t>
            </a:r>
          </a:p>
        </p:txBody>
      </p:sp>
      <p:sp>
        <p:nvSpPr>
          <p:cNvPr id="20" name="TextBox 19"/>
          <p:cNvSpPr txBox="1"/>
          <p:nvPr/>
        </p:nvSpPr>
        <p:spPr>
          <a:xfrm>
            <a:off x="6675120" y="3977639"/>
            <a:ext cx="5029200" cy="457200"/>
          </a:xfrm>
          <a:prstGeom prst="rect">
            <a:avLst/>
          </a:prstGeom>
          <a:noFill/>
        </p:spPr>
        <p:txBody>
          <a:bodyPr wrap="square" lIns="0" rIns="0" tIns="0" bIns="0" anchor="t">
            <a:spAutoFit/>
          </a:bodyPr>
          <a:lstStyle/>
          <a:p>
            <a:pPr algn="l"/>
            <a:r>
              <a:rPr sz="1300" b="0" i="0">
                <a:solidFill>
                  <a:srgbClr val="E8F0EA"/>
                </a:solidFill>
                <a:latin typeface="Helvetica"/>
              </a:rPr>
              <a:t>✓  C — Combined stack MTTR (cascade cost)</a:t>
            </a:r>
          </a:p>
        </p:txBody>
      </p:sp>
      <p:sp>
        <p:nvSpPr>
          <p:cNvPr id="21" name="TextBox 20"/>
          <p:cNvSpPr txBox="1"/>
          <p:nvPr/>
        </p:nvSpPr>
        <p:spPr>
          <a:xfrm>
            <a:off x="6675120" y="4572000"/>
            <a:ext cx="5029200" cy="457200"/>
          </a:xfrm>
          <a:prstGeom prst="rect">
            <a:avLst/>
          </a:prstGeom>
          <a:noFill/>
        </p:spPr>
        <p:txBody>
          <a:bodyPr wrap="square" lIns="0" rIns="0" tIns="0" bIns="0" anchor="t">
            <a:spAutoFit/>
          </a:bodyPr>
          <a:lstStyle/>
          <a:p>
            <a:pPr algn="l"/>
            <a:r>
              <a:rPr sz="1300" b="0" i="0">
                <a:solidFill>
                  <a:srgbClr val="E8F0EA"/>
                </a:solidFill>
                <a:latin typeface="Helvetica"/>
              </a:rPr>
              <a:t>✓  R &lt; V verdict (binary win/lose)</a:t>
            </a:r>
          </a:p>
        </p:txBody>
      </p:sp>
      <p:sp>
        <p:nvSpPr>
          <p:cNvPr id="22" name="TextBox 21"/>
          <p:cNvSpPr txBox="1"/>
          <p:nvPr/>
        </p:nvSpPr>
        <p:spPr>
          <a:xfrm>
            <a:off x="6675120" y="5166360"/>
            <a:ext cx="5029200" cy="457200"/>
          </a:xfrm>
          <a:prstGeom prst="rect">
            <a:avLst/>
          </a:prstGeom>
          <a:noFill/>
        </p:spPr>
        <p:txBody>
          <a:bodyPr wrap="square" lIns="0" rIns="0" tIns="0" bIns="0" anchor="t">
            <a:spAutoFit/>
          </a:bodyPr>
          <a:lstStyle/>
          <a:p>
            <a:pPr algn="l"/>
            <a:r>
              <a:rPr sz="1300" b="0" i="0">
                <a:solidFill>
                  <a:srgbClr val="E8F0EA"/>
                </a:solidFill>
                <a:latin typeface="Helvetica"/>
              </a:rPr>
              <a:t>✓  State-loss contract per service (documented)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4" name="TextBox 3"/>
          <p:cNvSpPr txBox="1"/>
          <p:nvPr/>
        </p:nvSpPr>
        <p:spPr>
          <a:xfrm>
            <a:off x="640080" y="2011680"/>
            <a:ext cx="10972800" cy="1828800"/>
          </a:xfrm>
          <a:prstGeom prst="rect">
            <a:avLst/>
          </a:prstGeom>
          <a:noFill/>
        </p:spPr>
        <p:txBody>
          <a:bodyPr wrap="square" lIns="0" rIns="0" tIns="0" bIns="0" anchor="t">
            <a:spAutoFit/>
          </a:bodyPr>
          <a:lstStyle/>
          <a:p>
            <a:pPr algn="ctr"/>
            <a:r>
              <a:rPr sz="4600" b="0" i="1">
                <a:solidFill>
                  <a:srgbClr val="98A49C"/>
                </a:solidFill>
                <a:latin typeface="Helvetica"/>
              </a:rPr>
              <a:t>Cyber resilience is not a taller wall.</a:t>
            </a:r>
          </a:p>
        </p:txBody>
      </p:sp>
      <p:sp>
        <p:nvSpPr>
          <p:cNvPr id="5" name="TextBox 4"/>
          <p:cNvSpPr txBox="1"/>
          <p:nvPr/>
        </p:nvSpPr>
        <p:spPr>
          <a:xfrm>
            <a:off x="640080" y="3566160"/>
            <a:ext cx="10972800" cy="1828800"/>
          </a:xfrm>
          <a:prstGeom prst="rect">
            <a:avLst/>
          </a:prstGeom>
          <a:noFill/>
        </p:spPr>
        <p:txBody>
          <a:bodyPr wrap="square" lIns="0" rIns="0" tIns="0" bIns="0" anchor="t">
            <a:spAutoFit/>
          </a:bodyPr>
          <a:lstStyle/>
          <a:p>
            <a:pPr algn="ctr"/>
            <a:r>
              <a:rPr sz="3800" b="1" i="0">
                <a:solidFill>
                  <a:srgbClr val="3BD67A"/>
                </a:solidFill>
                <a:latin typeface="Helvetica"/>
              </a:rPr>
              <a:t>Cyber resilience is a city that can</a:t>
            </a:r>
          </a:p>
          <a:p>
            <a:pPr algn="ctr"/>
            <a:r>
              <a:rPr sz="3800" b="1" i="0">
                <a:solidFill>
                  <a:srgbClr val="3BD67A"/>
                </a:solidFill>
                <a:latin typeface="Helvetica"/>
              </a:rPr>
              <a:t>rebuild itself while it is still on fire.</a:t>
            </a:r>
          </a:p>
        </p:txBody>
      </p:sp>
      <p:sp>
        <p:nvSpPr>
          <p:cNvPr id="6" name="TextBox 5"/>
          <p:cNvSpPr txBox="1"/>
          <p:nvPr/>
        </p:nvSpPr>
        <p:spPr>
          <a:xfrm>
            <a:off x="640080" y="5669280"/>
            <a:ext cx="10972800" cy="457200"/>
          </a:xfrm>
          <a:prstGeom prst="rect">
            <a:avLst/>
          </a:prstGeom>
          <a:noFill/>
        </p:spPr>
        <p:txBody>
          <a:bodyPr wrap="square" lIns="0" rIns="0" tIns="0" bIns="0" anchor="t">
            <a:spAutoFit/>
          </a:bodyPr>
          <a:lstStyle/>
          <a:p>
            <a:pPr algn="ctr"/>
            <a:r>
              <a:rPr sz="1400" b="1" i="0">
                <a:solidFill>
                  <a:srgbClr val="3BD67A"/>
                </a:solidFill>
                <a:latin typeface="Helvetica"/>
              </a:rPr>
              <a:t>RESILIENCE · RECOVERY · RESPAWN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510"/>
        </a:solidFill>
        <a:effectLst/>
      </p:bgPr>
    </p:bg>
    <p:spTree>
      <p:nvGrpSpPr>
        <p:cNvPr id="1" name=""/>
        <p:cNvGrpSpPr/>
        <p:nvPr/>
      </p:nvGrpSpPr>
      <p:grpSpPr/>
      <p:sp>
        <p:nvSpPr>
          <p:cNvPr id="2" name="Rectangle 1"/>
          <p:cNvSpPr/>
          <p:nvPr/>
        </p:nvSpPr>
        <p:spPr>
          <a:xfrm>
            <a:off x="457200" y="201168"/>
            <a:ext cx="11277295" cy="45720"/>
          </a:xfrm>
          <a:prstGeom prst="rect">
            <a:avLst/>
          </a:prstGeom>
          <a:solidFill>
            <a:srgbClr val="3BD67A"/>
          </a:solidFill>
          <a:ln>
            <a:solidFill>
              <a:srgbClr val="3B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548640"/>
          </a:xfrm>
          <a:prstGeom prst="rect">
            <a:avLst/>
          </a:prstGeom>
          <a:noFill/>
        </p:spPr>
        <p:txBody>
          <a:bodyPr wrap="square" lIns="0" rIns="0" tIns="0" bIns="0" anchor="t">
            <a:spAutoFit/>
          </a:bodyPr>
          <a:lstStyle/>
          <a:p>
            <a:pPr algn="l"/>
            <a:r>
              <a:rPr sz="3000" b="1" i="0">
                <a:solidFill>
                  <a:srgbClr val="E8F0EA"/>
                </a:solidFill>
                <a:latin typeface="Helvetica"/>
              </a:rPr>
              <a:t>The Resource Kit</a:t>
            </a:r>
          </a:p>
        </p:txBody>
      </p:sp>
      <p:sp>
        <p:nvSpPr>
          <p:cNvPr id="4" name="TextBox 3"/>
          <p:cNvSpPr txBox="1"/>
          <p:nvPr/>
        </p:nvSpPr>
        <p:spPr>
          <a:xfrm>
            <a:off x="457200" y="841248"/>
            <a:ext cx="11277295" cy="365760"/>
          </a:xfrm>
          <a:prstGeom prst="rect">
            <a:avLst/>
          </a:prstGeom>
          <a:noFill/>
        </p:spPr>
        <p:txBody>
          <a:bodyPr wrap="square" lIns="0" rIns="0" tIns="0" bIns="0" anchor="t">
            <a:spAutoFit/>
          </a:bodyPr>
          <a:lstStyle/>
          <a:p>
            <a:pPr algn="l"/>
            <a:r>
              <a:rPr sz="1400" b="0" i="1">
                <a:solidFill>
                  <a:srgbClr val="98A49C"/>
                </a:solidFill>
                <a:latin typeface="Helvetica"/>
              </a:rPr>
              <a:t>Everything you need to run Demo-3 and the B-V-R scorecard at home</a:t>
            </a:r>
          </a:p>
        </p:txBody>
      </p:sp>
      <p:sp>
        <p:nvSpPr>
          <p:cNvPr id="5" name="Rectangle 4"/>
          <p:cNvSpPr/>
          <p:nvPr/>
        </p:nvSpPr>
        <p:spPr>
          <a:xfrm>
            <a:off x="0" y="6583680"/>
            <a:ext cx="12191695" cy="274320"/>
          </a:xfrm>
          <a:prstGeom prst="rect">
            <a:avLst/>
          </a:prstGeom>
          <a:solidFill>
            <a:srgbClr val="0F1F17"/>
          </a:solidFill>
          <a:ln>
            <a:solidFill>
              <a:srgbClr val="0F1F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601968"/>
            <a:ext cx="11277295" cy="256032"/>
          </a:xfrm>
          <a:prstGeom prst="rect">
            <a:avLst/>
          </a:prstGeom>
          <a:noFill/>
        </p:spPr>
        <p:txBody>
          <a:bodyPr wrap="square" lIns="0" rIns="0" tIns="0" bIns="0" anchor="ctr">
            <a:spAutoFit/>
          </a:bodyPr>
          <a:lstStyle/>
          <a:p>
            <a:pPr algn="l"/>
            <a:r>
              <a:rPr sz="900" b="0" i="1">
                <a:solidFill>
                  <a:srgbClr val="98A49C"/>
                </a:solidFill>
                <a:latin typeface="Helvetica"/>
              </a:rPr>
              <a:t>DEFCON Coimbatore 2026 · Demo-3 · Venugopal Parameswara</a:t>
            </a:r>
          </a:p>
        </p:txBody>
      </p:sp>
      <p:sp>
        <p:nvSpPr>
          <p:cNvPr id="7" name="TextBox 6"/>
          <p:cNvSpPr txBox="1"/>
          <p:nvPr/>
        </p:nvSpPr>
        <p:spPr>
          <a:xfrm>
            <a:off x="640080" y="1645920"/>
            <a:ext cx="5394960" cy="411480"/>
          </a:xfrm>
          <a:prstGeom prst="rect">
            <a:avLst/>
          </a:prstGeom>
          <a:noFill/>
        </p:spPr>
        <p:txBody>
          <a:bodyPr wrap="square" lIns="0" rIns="0" tIns="0" bIns="0" anchor="t">
            <a:spAutoFit/>
          </a:bodyPr>
          <a:lstStyle/>
          <a:p>
            <a:pPr algn="l"/>
            <a:r>
              <a:rPr sz="1400" b="1" i="0">
                <a:solidFill>
                  <a:srgbClr val="3BD67A"/>
                </a:solidFill>
                <a:latin typeface="Menlo"/>
              </a:rPr>
              <a:t>README.md</a:t>
            </a:r>
          </a:p>
        </p:txBody>
      </p:sp>
      <p:sp>
        <p:nvSpPr>
          <p:cNvPr id="8" name="TextBox 7"/>
          <p:cNvSpPr txBox="1"/>
          <p:nvPr/>
        </p:nvSpPr>
        <p:spPr>
          <a:xfrm>
            <a:off x="640080" y="2029968"/>
            <a:ext cx="5394960" cy="457200"/>
          </a:xfrm>
          <a:prstGeom prst="rect">
            <a:avLst/>
          </a:prstGeom>
          <a:noFill/>
        </p:spPr>
        <p:txBody>
          <a:bodyPr wrap="square" lIns="0" rIns="0" tIns="0" bIns="0" anchor="t">
            <a:spAutoFit/>
          </a:bodyPr>
          <a:lstStyle/>
          <a:p>
            <a:pPr algn="l"/>
            <a:r>
              <a:rPr sz="1100" b="0" i="0">
                <a:solidFill>
                  <a:srgbClr val="98A49C"/>
                </a:solidFill>
                <a:latin typeface="Helvetica"/>
              </a:rPr>
              <a:t>Kit overview + measured B-V-R table</a:t>
            </a:r>
          </a:p>
        </p:txBody>
      </p:sp>
      <p:sp>
        <p:nvSpPr>
          <p:cNvPr id="9" name="TextBox 8"/>
          <p:cNvSpPr txBox="1"/>
          <p:nvPr/>
        </p:nvSpPr>
        <p:spPr>
          <a:xfrm>
            <a:off x="640080" y="2560320"/>
            <a:ext cx="5394960" cy="411480"/>
          </a:xfrm>
          <a:prstGeom prst="rect">
            <a:avLst/>
          </a:prstGeom>
          <a:noFill/>
        </p:spPr>
        <p:txBody>
          <a:bodyPr wrap="square" lIns="0" rIns="0" tIns="0" bIns="0" anchor="t">
            <a:spAutoFit/>
          </a:bodyPr>
          <a:lstStyle/>
          <a:p>
            <a:pPr algn="l"/>
            <a:r>
              <a:rPr sz="1400" b="1" i="0">
                <a:solidFill>
                  <a:srgbClr val="3BD67A"/>
                </a:solidFill>
                <a:latin typeface="Menlo"/>
              </a:rPr>
              <a:t>02_demo3_stack/</a:t>
            </a:r>
          </a:p>
        </p:txBody>
      </p:sp>
      <p:sp>
        <p:nvSpPr>
          <p:cNvPr id="10" name="TextBox 9"/>
          <p:cNvSpPr txBox="1"/>
          <p:nvPr/>
        </p:nvSpPr>
        <p:spPr>
          <a:xfrm>
            <a:off x="640080" y="2944368"/>
            <a:ext cx="5394960" cy="457200"/>
          </a:xfrm>
          <a:prstGeom prst="rect">
            <a:avLst/>
          </a:prstGeom>
          <a:noFill/>
        </p:spPr>
        <p:txBody>
          <a:bodyPr wrap="square" lIns="0" rIns="0" tIns="0" bIns="0" anchor="t">
            <a:spAutoFit/>
          </a:bodyPr>
          <a:lstStyle/>
          <a:p>
            <a:pPr algn="l"/>
            <a:r>
              <a:rPr sz="1100" b="0" i="0">
                <a:solidFill>
                  <a:srgbClr val="98A49C"/>
                </a:solidFill>
                <a:latin typeface="Helvetica"/>
              </a:rPr>
              <a:t>Source pointers + lifecycle commands</a:t>
            </a:r>
          </a:p>
        </p:txBody>
      </p:sp>
      <p:sp>
        <p:nvSpPr>
          <p:cNvPr id="11" name="TextBox 10"/>
          <p:cNvSpPr txBox="1"/>
          <p:nvPr/>
        </p:nvSpPr>
        <p:spPr>
          <a:xfrm>
            <a:off x="640080" y="3474720"/>
            <a:ext cx="5394960" cy="411480"/>
          </a:xfrm>
          <a:prstGeom prst="rect">
            <a:avLst/>
          </a:prstGeom>
          <a:noFill/>
        </p:spPr>
        <p:txBody>
          <a:bodyPr wrap="square" lIns="0" rIns="0" tIns="0" bIns="0" anchor="t">
            <a:spAutoFit/>
          </a:bodyPr>
          <a:lstStyle/>
          <a:p>
            <a:pPr algn="l"/>
            <a:r>
              <a:rPr sz="1400" b="1" i="0">
                <a:solidFill>
                  <a:srgbClr val="3BD67A"/>
                </a:solidFill>
                <a:latin typeface="Menlo"/>
              </a:rPr>
              <a:t>bvr-scorecard</a:t>
            </a:r>
          </a:p>
        </p:txBody>
      </p:sp>
      <p:sp>
        <p:nvSpPr>
          <p:cNvPr id="12" name="TextBox 11"/>
          <p:cNvSpPr txBox="1"/>
          <p:nvPr/>
        </p:nvSpPr>
        <p:spPr>
          <a:xfrm>
            <a:off x="640080" y="3858768"/>
            <a:ext cx="5394960" cy="457200"/>
          </a:xfrm>
          <a:prstGeom prst="rect">
            <a:avLst/>
          </a:prstGeom>
          <a:noFill/>
        </p:spPr>
        <p:txBody>
          <a:bodyPr wrap="square" lIns="0" rIns="0" tIns="0" bIns="0" anchor="t">
            <a:spAutoFit/>
          </a:bodyPr>
          <a:lstStyle/>
          <a:p>
            <a:pPr algn="l"/>
            <a:r>
              <a:rPr sz="1100" b="0" i="0">
                <a:solidFill>
                  <a:srgbClr val="98A49C"/>
                </a:solidFill>
                <a:latin typeface="Helvetica"/>
              </a:rPr>
              <a:t>Your own printable B-V-R worksheet</a:t>
            </a:r>
          </a:p>
        </p:txBody>
      </p:sp>
      <p:sp>
        <p:nvSpPr>
          <p:cNvPr id="13" name="TextBox 12"/>
          <p:cNvSpPr txBox="1"/>
          <p:nvPr/>
        </p:nvSpPr>
        <p:spPr>
          <a:xfrm>
            <a:off x="640080" y="4389120"/>
            <a:ext cx="5394960" cy="411480"/>
          </a:xfrm>
          <a:prstGeom prst="rect">
            <a:avLst/>
          </a:prstGeom>
          <a:noFill/>
        </p:spPr>
        <p:txBody>
          <a:bodyPr wrap="square" lIns="0" rIns="0" tIns="0" bIns="0" anchor="t">
            <a:spAutoFit/>
          </a:bodyPr>
          <a:lstStyle/>
          <a:p>
            <a:pPr algn="l"/>
            <a:r>
              <a:rPr sz="1400" b="1" i="0">
                <a:solidFill>
                  <a:srgbClr val="3BD67A"/>
                </a:solidFill>
                <a:latin typeface="Menlo"/>
              </a:rPr>
              <a:t>chaos-gameday-lab</a:t>
            </a:r>
          </a:p>
        </p:txBody>
      </p:sp>
      <p:sp>
        <p:nvSpPr>
          <p:cNvPr id="14" name="TextBox 13"/>
          <p:cNvSpPr txBox="1"/>
          <p:nvPr/>
        </p:nvSpPr>
        <p:spPr>
          <a:xfrm>
            <a:off x="640080" y="4773168"/>
            <a:ext cx="5394960" cy="457200"/>
          </a:xfrm>
          <a:prstGeom prst="rect">
            <a:avLst/>
          </a:prstGeom>
          <a:noFill/>
        </p:spPr>
        <p:txBody>
          <a:bodyPr wrap="square" lIns="0" rIns="0" tIns="0" bIns="0" anchor="t">
            <a:spAutoFit/>
          </a:bodyPr>
          <a:lstStyle/>
          <a:p>
            <a:pPr algn="l"/>
            <a:r>
              <a:rPr sz="1100" b="0" i="0">
                <a:solidFill>
                  <a:srgbClr val="98A49C"/>
                </a:solidFill>
                <a:latin typeface="Helvetica"/>
              </a:rPr>
              <a:t>6 attack cards across 4 tiers (2hr lab)</a:t>
            </a:r>
          </a:p>
        </p:txBody>
      </p:sp>
      <p:sp>
        <p:nvSpPr>
          <p:cNvPr id="15" name="TextBox 14"/>
          <p:cNvSpPr txBox="1"/>
          <p:nvPr/>
        </p:nvSpPr>
        <p:spPr>
          <a:xfrm>
            <a:off x="640080" y="5303520"/>
            <a:ext cx="5394960" cy="411480"/>
          </a:xfrm>
          <a:prstGeom prst="rect">
            <a:avLst/>
          </a:prstGeom>
          <a:noFill/>
        </p:spPr>
        <p:txBody>
          <a:bodyPr wrap="square" lIns="0" rIns="0" tIns="0" bIns="0" anchor="t">
            <a:spAutoFit/>
          </a:bodyPr>
          <a:lstStyle/>
          <a:p>
            <a:pPr algn="l"/>
            <a:r>
              <a:rPr sz="1400" b="1" i="0">
                <a:solidFill>
                  <a:srgbClr val="3BD67A"/>
                </a:solidFill>
                <a:latin typeface="Menlo"/>
              </a:rPr>
              <a:t>ciso-conversation-guide</a:t>
            </a:r>
          </a:p>
        </p:txBody>
      </p:sp>
      <p:sp>
        <p:nvSpPr>
          <p:cNvPr id="16" name="TextBox 15"/>
          <p:cNvSpPr txBox="1"/>
          <p:nvPr/>
        </p:nvSpPr>
        <p:spPr>
          <a:xfrm>
            <a:off x="640080" y="5687568"/>
            <a:ext cx="5394960" cy="457200"/>
          </a:xfrm>
          <a:prstGeom prst="rect">
            <a:avLst/>
          </a:prstGeom>
          <a:noFill/>
        </p:spPr>
        <p:txBody>
          <a:bodyPr wrap="square" lIns="0" rIns="0" tIns="0" bIns="0" anchor="t">
            <a:spAutoFit/>
          </a:bodyPr>
          <a:lstStyle/>
          <a:p>
            <a:pPr algn="l"/>
            <a:r>
              <a:rPr sz="1100" b="0" i="0">
                <a:solidFill>
                  <a:srgbClr val="98A49C"/>
                </a:solidFill>
                <a:latin typeface="Helvetica"/>
              </a:rPr>
              <a:t>Board translations + 7 Tier-1 questions</a:t>
            </a:r>
          </a:p>
        </p:txBody>
      </p:sp>
      <p:sp>
        <p:nvSpPr>
          <p:cNvPr id="17" name="TextBox 16"/>
          <p:cNvSpPr txBox="1"/>
          <p:nvPr/>
        </p:nvSpPr>
        <p:spPr>
          <a:xfrm>
            <a:off x="6400800" y="1645920"/>
            <a:ext cx="5394960" cy="411480"/>
          </a:xfrm>
          <a:prstGeom prst="rect">
            <a:avLst/>
          </a:prstGeom>
          <a:noFill/>
        </p:spPr>
        <p:txBody>
          <a:bodyPr wrap="square" lIns="0" rIns="0" tIns="0" bIns="0" anchor="t">
            <a:spAutoFit/>
          </a:bodyPr>
          <a:lstStyle/>
          <a:p>
            <a:pPr algn="l"/>
            <a:r>
              <a:rPr sz="1400" b="1" i="0">
                <a:solidFill>
                  <a:srgbClr val="3BD67A"/>
                </a:solidFill>
                <a:latin typeface="Menlo"/>
              </a:rPr>
              <a:t>ctf-guardian-gap-hunt</a:t>
            </a:r>
          </a:p>
        </p:txBody>
      </p:sp>
      <p:sp>
        <p:nvSpPr>
          <p:cNvPr id="18" name="TextBox 17"/>
          <p:cNvSpPr txBox="1"/>
          <p:nvPr/>
        </p:nvSpPr>
        <p:spPr>
          <a:xfrm>
            <a:off x="6400800" y="2029968"/>
            <a:ext cx="5394960" cy="457200"/>
          </a:xfrm>
          <a:prstGeom prst="rect">
            <a:avLst/>
          </a:prstGeom>
          <a:noFill/>
        </p:spPr>
        <p:txBody>
          <a:bodyPr wrap="square" lIns="0" rIns="0" tIns="0" bIns="0" anchor="t">
            <a:spAutoFit/>
          </a:bodyPr>
          <a:lstStyle/>
          <a:p>
            <a:pPr algn="l"/>
            <a:r>
              <a:rPr sz="1100" b="0" i="0">
                <a:solidFill>
                  <a:srgbClr val="98A49C"/>
                </a:solidFill>
                <a:latin typeface="Helvetica"/>
              </a:rPr>
              <a:t>4 CTF levels + 2 bonus (1,850 pts)</a:t>
            </a:r>
          </a:p>
        </p:txBody>
      </p:sp>
      <p:sp>
        <p:nvSpPr>
          <p:cNvPr id="19" name="TextBox 18"/>
          <p:cNvSpPr txBox="1"/>
          <p:nvPr/>
        </p:nvSpPr>
        <p:spPr>
          <a:xfrm>
            <a:off x="6400800" y="2560320"/>
            <a:ext cx="5394960" cy="411480"/>
          </a:xfrm>
          <a:prstGeom prst="rect">
            <a:avLst/>
          </a:prstGeom>
          <a:noFill/>
        </p:spPr>
        <p:txBody>
          <a:bodyPr wrap="square" lIns="0" rIns="0" tIns="0" bIns="0" anchor="t">
            <a:spAutoFit/>
          </a:bodyPr>
          <a:lstStyle/>
          <a:p>
            <a:pPr algn="l"/>
            <a:r>
              <a:rPr sz="1400" b="1" i="0">
                <a:solidFill>
                  <a:srgbClr val="3BD67A"/>
                </a:solidFill>
                <a:latin typeface="Menlo"/>
              </a:rPr>
              <a:t>homelab-setup-guide</a:t>
            </a:r>
          </a:p>
        </p:txBody>
      </p:sp>
      <p:sp>
        <p:nvSpPr>
          <p:cNvPr id="20" name="TextBox 19"/>
          <p:cNvSpPr txBox="1"/>
          <p:nvPr/>
        </p:nvSpPr>
        <p:spPr>
          <a:xfrm>
            <a:off x="6400800" y="2944368"/>
            <a:ext cx="5394960" cy="457200"/>
          </a:xfrm>
          <a:prstGeom prst="rect">
            <a:avLst/>
          </a:prstGeom>
          <a:noFill/>
        </p:spPr>
        <p:txBody>
          <a:bodyPr wrap="square" lIns="0" rIns="0" tIns="0" bIns="0" anchor="t">
            <a:spAutoFit/>
          </a:bodyPr>
          <a:lstStyle/>
          <a:p>
            <a:pPr algn="l"/>
            <a:r>
              <a:rPr sz="1100" b="0" i="0">
                <a:solidFill>
                  <a:srgbClr val="98A49C"/>
                </a:solidFill>
                <a:latin typeface="Helvetica"/>
              </a:rPr>
              <a:t>Mac / Linux / WSL2 — run it yourself</a:t>
            </a:r>
          </a:p>
        </p:txBody>
      </p:sp>
      <p:sp>
        <p:nvSpPr>
          <p:cNvPr id="21" name="TextBox 20"/>
          <p:cNvSpPr txBox="1"/>
          <p:nvPr/>
        </p:nvSpPr>
        <p:spPr>
          <a:xfrm>
            <a:off x="6400800" y="3474720"/>
            <a:ext cx="5394960" cy="411480"/>
          </a:xfrm>
          <a:prstGeom prst="rect">
            <a:avLst/>
          </a:prstGeom>
          <a:noFill/>
        </p:spPr>
        <p:txBody>
          <a:bodyPr wrap="square" lIns="0" rIns="0" tIns="0" bIns="0" anchor="t">
            <a:spAutoFit/>
          </a:bodyPr>
          <a:lstStyle/>
          <a:p>
            <a:pPr algn="l"/>
            <a:r>
              <a:rPr sz="1400" b="1" i="0">
                <a:solidFill>
                  <a:srgbClr val="3BD67A"/>
                </a:solidFill>
                <a:latin typeface="Menlo"/>
              </a:rPr>
              <a:t>mitre-attack-mapping</a:t>
            </a:r>
          </a:p>
        </p:txBody>
      </p:sp>
      <p:sp>
        <p:nvSpPr>
          <p:cNvPr id="22" name="TextBox 21"/>
          <p:cNvSpPr txBox="1"/>
          <p:nvPr/>
        </p:nvSpPr>
        <p:spPr>
          <a:xfrm>
            <a:off x="6400800" y="3858768"/>
            <a:ext cx="5394960" cy="457200"/>
          </a:xfrm>
          <a:prstGeom prst="rect">
            <a:avLst/>
          </a:prstGeom>
          <a:noFill/>
        </p:spPr>
        <p:txBody>
          <a:bodyPr wrap="square" lIns="0" rIns="0" tIns="0" bIns="0" anchor="t">
            <a:spAutoFit/>
          </a:bodyPr>
          <a:lstStyle/>
          <a:p>
            <a:pPr algn="l"/>
            <a:r>
              <a:rPr sz="1100" b="0" i="0">
                <a:solidFill>
                  <a:srgbClr val="98A49C"/>
                </a:solidFill>
                <a:latin typeface="Helvetica"/>
              </a:rPr>
              <a:t>T1485/T1486/T1190/T1548/T1552/T1059.007</a:t>
            </a:r>
          </a:p>
        </p:txBody>
      </p:sp>
      <p:sp>
        <p:nvSpPr>
          <p:cNvPr id="23" name="TextBox 22"/>
          <p:cNvSpPr txBox="1"/>
          <p:nvPr/>
        </p:nvSpPr>
        <p:spPr>
          <a:xfrm>
            <a:off x="6400800" y="4389120"/>
            <a:ext cx="5394960" cy="411480"/>
          </a:xfrm>
          <a:prstGeom prst="rect">
            <a:avLst/>
          </a:prstGeom>
          <a:noFill/>
        </p:spPr>
        <p:txBody>
          <a:bodyPr wrap="square" lIns="0" rIns="0" tIns="0" bIns="0" anchor="t">
            <a:spAutoFit/>
          </a:bodyPr>
          <a:lstStyle/>
          <a:p>
            <a:pPr algn="l"/>
            <a:r>
              <a:rPr sz="1400" b="1" i="0">
                <a:solidFill>
                  <a:srgbClr val="3BD67A"/>
                </a:solidFill>
                <a:latin typeface="Menlo"/>
              </a:rPr>
              <a:t>reading-list</a:t>
            </a:r>
          </a:p>
        </p:txBody>
      </p:sp>
      <p:sp>
        <p:nvSpPr>
          <p:cNvPr id="24" name="TextBox 23"/>
          <p:cNvSpPr txBox="1"/>
          <p:nvPr/>
        </p:nvSpPr>
        <p:spPr>
          <a:xfrm>
            <a:off x="6400800" y="4773168"/>
            <a:ext cx="5394960" cy="457200"/>
          </a:xfrm>
          <a:prstGeom prst="rect">
            <a:avLst/>
          </a:prstGeom>
          <a:noFill/>
        </p:spPr>
        <p:txBody>
          <a:bodyPr wrap="square" lIns="0" rIns="0" tIns="0" bIns="0" anchor="t">
            <a:spAutoFit/>
          </a:bodyPr>
          <a:lstStyle/>
          <a:p>
            <a:pPr algn="l"/>
            <a:r>
              <a:rPr sz="1100" b="0" i="0">
                <a:solidFill>
                  <a:srgbClr val="98A49C"/>
                </a:solidFill>
                <a:latin typeface="Helvetica"/>
              </a:rPr>
              <a:t>+ DB reliability, Postgres HA, ModSec</a:t>
            </a:r>
          </a:p>
        </p:txBody>
      </p:sp>
      <p:sp>
        <p:nvSpPr>
          <p:cNvPr id="25" name="TextBox 24"/>
          <p:cNvSpPr txBox="1"/>
          <p:nvPr/>
        </p:nvSpPr>
        <p:spPr>
          <a:xfrm>
            <a:off x="6400800" y="5303520"/>
            <a:ext cx="5394960" cy="411480"/>
          </a:xfrm>
          <a:prstGeom prst="rect">
            <a:avLst/>
          </a:prstGeom>
          <a:noFill/>
        </p:spPr>
        <p:txBody>
          <a:bodyPr wrap="square" lIns="0" rIns="0" tIns="0" bIns="0" anchor="t">
            <a:spAutoFit/>
          </a:bodyPr>
          <a:lstStyle/>
          <a:p>
            <a:pPr algn="l"/>
            <a:r>
              <a:rPr sz="1400" b="1" i="0">
                <a:solidFill>
                  <a:srgbClr val="3BD67A"/>
                </a:solidFill>
                <a:latin typeface="Menlo"/>
              </a:rPr>
              <a:t>expanded-concepts</a:t>
            </a:r>
          </a:p>
        </p:txBody>
      </p:sp>
      <p:sp>
        <p:nvSpPr>
          <p:cNvPr id="26" name="TextBox 25"/>
          <p:cNvSpPr txBox="1"/>
          <p:nvPr/>
        </p:nvSpPr>
        <p:spPr>
          <a:xfrm>
            <a:off x="6400800" y="5687568"/>
            <a:ext cx="5394960" cy="457200"/>
          </a:xfrm>
          <a:prstGeom prst="rect">
            <a:avLst/>
          </a:prstGeom>
          <a:noFill/>
        </p:spPr>
        <p:txBody>
          <a:bodyPr wrap="square" lIns="0" rIns="0" tIns="0" bIns="0" anchor="t">
            <a:spAutoFit/>
          </a:bodyPr>
          <a:lstStyle/>
          <a:p>
            <a:pPr algn="l"/>
            <a:r>
              <a:rPr sz="1100" b="0" i="0">
                <a:solidFill>
                  <a:srgbClr val="98A49C"/>
                </a:solidFill>
                <a:latin typeface="Helvetica"/>
              </a:rPr>
              <a:t>9 essays on the ideas we compressed today</a:t>
            </a:r>
          </a:p>
        </p:txBody>
      </p:sp>
      <p:sp>
        <p:nvSpPr>
          <p:cNvPr id="27" name="TextBox 26"/>
          <p:cNvSpPr txBox="1"/>
          <p:nvPr/>
        </p:nvSpPr>
        <p:spPr>
          <a:xfrm>
            <a:off x="640080" y="6400800"/>
            <a:ext cx="10972800" cy="274320"/>
          </a:xfrm>
          <a:prstGeom prst="rect">
            <a:avLst/>
          </a:prstGeom>
          <a:noFill/>
        </p:spPr>
        <p:txBody>
          <a:bodyPr wrap="square" lIns="0" rIns="0" tIns="0" bIns="0" anchor="t">
            <a:spAutoFit/>
          </a:bodyPr>
          <a:lstStyle/>
          <a:p>
            <a:pPr algn="ctr"/>
            <a:r>
              <a:rPr sz="1200" b="1" i="0">
                <a:solidFill>
                  <a:srgbClr val="3BD67A"/>
                </a:solidFill>
                <a:latin typeface="Menlo"/>
              </a:rPr>
              <a:t>github.com/CyberRant-lab/Defcon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